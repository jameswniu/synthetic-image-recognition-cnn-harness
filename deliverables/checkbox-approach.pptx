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the assignment was to find checkboxes and say whether they are marked. The interesting part turned out not to be detection. It was deciding which boxes have a right answer and which ones genuinely do not, and who gets to decide that.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four pages the brief supplied, with every box the system found drawn on it. Green is marked, red is empty, amber is the two it refused to guess. 42 boxes, 16 read as marked. Point at the amber ones: that is the whole design in one picture.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Shaded rows, a watermark stamped through the border, ink so faint you squint, and handwriting crossing an empty box. The last two are cases where two careful people disagree with each other. That is what shaped the design: some boxes have a right answer and some do not.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top row is ordinary image processing and it is where almost everything is settled. Two readers find the boxes independently: one from the printed lines, one from the blank federal form. Where they agree the answer stands. Where they disagree the box is flagged, never dropped. The bottom row is the exception lane and it is off by default.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demo I would run live. Two files, no code change, and the answer on one box moves. The point is not that one policy wins; it is that the argument now has somewhere to happen that is not our backlog.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arithmetic is the whole argument. At real volume that gap stops being a rounding error, and it is the wrong trade on quality too: published work finds checkbox reading is a specific weak spot for vision models, not a strength.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kinds and people usually only price the first. The second one is where the operational cost actually sits, because a human reading pages to find out what went wrong is the most expensive thing in the loop.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kinds of gate are visible and published. The one that is out of band is the trained classifier's flag rate, and it is written down in docs/EVALS.md rather than quietly retuned. That is the honest version of a green dashboard.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 is the 2021 answer and it loses on control, not accuracy: the definition of a mark is frozen inside the weights, there is nowhere to look up why a box was read a given way, and changing it means a relabel and a retrain. C is the 2026 answer and it pays frontier prices to read something a hundred pixels wide, gives up determinism, and ships whole customer pages to a third party. If this were thousands of unseen layouts with no explainability requirement, C would be right and this would be over-engineering.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real pages cannot prove much on their own, which is why the synthetic corpus and the held-out appraisals exist. The held-out ones came from three offices that were never used while building anything and they flagged nothing at all.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room wants a live run, this is the slide to do it from: the whole loop is install, serve, one curl. The overlay endpoint is the fastest way to disagree with it, and make eval reprints the results table while people watch.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green test that would pass anyway is worse than no test, so two of the gates were verified by deliberately breaking the fix and watching them fail. The rejected-candidates field is the one I would check first, because rejection is the only place the system removes something instead of flagging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panel that matters is why boxes went to a person. Of the queue, 64 a pen line crosses the box, 56 the form expects a box here, 16 too little ink to call. That is something an operator can act on without opening a document. The held-out real appraisals flagged 0. The hardest single condition is shading at 9.05%, against 1.03% for rotation. deliverables/dashboard.html in the repo is the full page, and it opens with no server.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LLM that built the product wrote both contestants, the rules and this 29KB model, and judged them against one referee: 52 damaged pages plus the hand-ruled answer keys. When the CNN is confident it is right 229 of 230 times, so training worked; its problem is confidence in the right places, 56 unsure boxes where the rules are sure and correct. make compare reprints this table from the repo.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I would want to build next. It is also the part that changes what the product is: not 'we read your checkboxes' but 'we can tell you which questions your users get stuck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would rather be the person who lists these than the person who gets asked about them. Every one of them is written down in docs/approach.md with the measurement behind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1B4B"/>
        </a:solidFill>
        <a:effectLst/>
      </p:bgPr>
    </p:bg>
    <p:spTree>
      <p:nvGrpSpPr>
        <p:cNvPr id="1" name=""/>
        <p:cNvGrpSpPr/>
        <p:nvPr/>
      </p:nvGrpSpPr>
      <p:grpSpPr/>
      <p:sp>
        <p:nvSpPr>
          <p:cNvPr id="2" name="Rectangle 1"/>
          <p:cNvSpPr/>
          <p:nvPr/>
        </p:nvSpPr>
        <p:spPr>
          <a:xfrm>
            <a:off x="0" y="3127248"/>
            <a:ext cx="1005840" cy="38100"/>
          </a:xfrm>
          <a:prstGeom prst="rect">
            <a:avLst/>
          </a:prstGeom>
          <a:solidFill>
            <a:srgbClr val="586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48840"/>
            <a:ext cx="11057839" cy="1188720"/>
          </a:xfrm>
          <a:prstGeom prst="rect">
            <a:avLst/>
          </a:prstGeom>
          <a:noFill/>
        </p:spPr>
        <p:txBody>
          <a:bodyPr wrap="square">
            <a:spAutoFit/>
          </a:bodyPr>
          <a:lstStyle/>
          <a:p>
            <a:pPr>
              <a:spcAft>
                <a:spcPts val="800"/>
              </a:spcAft>
              <a:defRPr sz="4200" b="1">
                <a:solidFill>
                  <a:srgbClr val="FFFFFF"/>
                </a:solidFill>
                <a:latin typeface="Helvetica Neue"/>
              </a:defRPr>
            </a:pPr>
            <a:r>
              <a:t>Reading checkboxes off appraisal pages</a:t>
            </a:r>
          </a:p>
        </p:txBody>
      </p:sp>
      <p:sp>
        <p:nvSpPr>
          <p:cNvPr id="4" name="TextBox 3"/>
          <p:cNvSpPr txBox="1"/>
          <p:nvPr/>
        </p:nvSpPr>
        <p:spPr>
          <a:xfrm>
            <a:off x="566928" y="3429000"/>
            <a:ext cx="11057839" cy="1828800"/>
          </a:xfrm>
          <a:prstGeom prst="rect">
            <a:avLst/>
          </a:prstGeom>
          <a:noFill/>
        </p:spPr>
        <p:txBody>
          <a:bodyPr wrap="square">
            <a:spAutoFit/>
          </a:bodyPr>
          <a:lstStyle/>
          <a:p>
            <a:pPr>
              <a:spcAft>
                <a:spcPts val="800"/>
              </a:spcAft>
              <a:defRPr sz="1700" b="0">
                <a:solidFill>
                  <a:srgbClr val="C7D2FE"/>
                </a:solidFill>
                <a:latin typeface="Helvetica Neue"/>
              </a:defRPr>
            </a:pPr>
            <a:r>
              <a:t>It reads what it can read for certain, hands the rest to a person, and lets the customer decide what counts as a mark.</a:t>
            </a:r>
          </a:p>
          <a:p>
            <a:pPr>
              <a:spcAft>
                <a:spcPts val="800"/>
              </a:spcAft>
              <a:defRPr sz="1700" b="0">
                <a:solidFill>
                  <a:srgbClr val="C7D2FE"/>
                </a:solidFill>
                <a:latin typeface="Helvetica Neue"/>
              </a:defRPr>
            </a:pPr>
          </a:p>
          <a:p>
            <a:pPr>
              <a:spcAft>
                <a:spcPts val="800"/>
              </a:spcAft>
              <a:defRPr sz="1700" b="0">
                <a:solidFill>
                  <a:srgbClr val="C7D2FE"/>
                </a:solidFill>
                <a:latin typeface="Helvetica Neue"/>
              </a:defRPr>
            </a:pPr>
            <a:r>
              <a:t>James W. Niu   ·   every number is read from the repo's own reports</a:t>
            </a:r>
          </a:p>
        </p:txBody>
      </p:sp>
      <p:sp>
        <p:nvSpPr>
          <p:cNvPr id="5" name="Rounded Rectangle 4"/>
          <p:cNvSpPr/>
          <p:nvPr/>
        </p:nvSpPr>
        <p:spPr>
          <a:xfrm>
            <a:off x="566928" y="5760720"/>
            <a:ext cx="256032" cy="256032"/>
          </a:xfrm>
          <a:prstGeom prst="roundRect">
            <a:avLst>
              <a:gd name="adj" fmla="val 8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5669280"/>
            <a:ext cx="2560320" cy="457200"/>
          </a:xfrm>
          <a:prstGeom prst="rect">
            <a:avLst/>
          </a:prstGeom>
          <a:noFill/>
        </p:spPr>
        <p:txBody>
          <a:bodyPr wrap="square">
            <a:spAutoFit/>
          </a:bodyPr>
          <a:lstStyle/>
          <a:p>
            <a:pPr>
              <a:spcAft>
                <a:spcPts val="800"/>
              </a:spcAft>
              <a:defRPr sz="1400" b="0">
                <a:solidFill>
                  <a:srgbClr val="C7D2FE"/>
                </a:solidFill>
                <a:latin typeface="Helvetica Neue"/>
              </a:defRPr>
            </a:pPr>
            <a:r>
              <a:t>rules, same answer always</a:t>
            </a:r>
          </a:p>
        </p:txBody>
      </p:sp>
      <p:sp>
        <p:nvSpPr>
          <p:cNvPr id="7" name="Rounded Rectangle 6"/>
          <p:cNvSpPr/>
          <p:nvPr/>
        </p:nvSpPr>
        <p:spPr>
          <a:xfrm>
            <a:off x="3584448" y="5760720"/>
            <a:ext cx="256032" cy="256032"/>
          </a:xfrm>
          <a:prstGeom prst="roundRect">
            <a:avLst>
              <a:gd name="adj" fmla="val 8000"/>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50208" y="5669280"/>
            <a:ext cx="2560320" cy="457200"/>
          </a:xfrm>
          <a:prstGeom prst="rect">
            <a:avLst/>
          </a:prstGeom>
          <a:noFill/>
        </p:spPr>
        <p:txBody>
          <a:bodyPr wrap="square">
            <a:spAutoFit/>
          </a:bodyPr>
          <a:lstStyle/>
          <a:p>
            <a:pPr>
              <a:spcAft>
                <a:spcPts val="800"/>
              </a:spcAft>
              <a:defRPr sz="1400" b="0">
                <a:solidFill>
                  <a:srgbClr val="C7D2FE"/>
                </a:solidFill>
                <a:latin typeface="Helvetica Neue"/>
              </a:defRPr>
            </a:pPr>
            <a:r>
              <a:t>sent for review</a:t>
            </a:r>
          </a:p>
        </p:txBody>
      </p:sp>
      <p:sp>
        <p:nvSpPr>
          <p:cNvPr id="9" name="Rounded Rectangle 8"/>
          <p:cNvSpPr/>
          <p:nvPr/>
        </p:nvSpPr>
        <p:spPr>
          <a:xfrm>
            <a:off x="6601968" y="5760720"/>
            <a:ext cx="256032" cy="256032"/>
          </a:xfrm>
          <a:prstGeom prst="roundRect">
            <a:avLst>
              <a:gd name="adj" fmla="val 8000"/>
            </a:avLst>
          </a:prstGeom>
          <a:solidFill>
            <a:srgbClr val="3A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67728" y="5669280"/>
            <a:ext cx="2560320" cy="457200"/>
          </a:xfrm>
          <a:prstGeom prst="rect">
            <a:avLst/>
          </a:prstGeom>
          <a:noFill/>
        </p:spPr>
        <p:txBody>
          <a:bodyPr wrap="square">
            <a:spAutoFit/>
          </a:bodyPr>
          <a:lstStyle/>
          <a:p>
            <a:pPr>
              <a:spcAft>
                <a:spcPts val="800"/>
              </a:spcAft>
              <a:defRPr sz="1400" b="0">
                <a:solidFill>
                  <a:srgbClr val="C7D2FE"/>
                </a:solidFill>
                <a:latin typeface="Helvetica Neue"/>
              </a:defRPr>
            </a:pPr>
            <a:r>
              <a:t>a person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75488"/>
          </a:xfrm>
          <a:prstGeom prst="rect">
            <a:avLst/>
          </a:prstGeom>
          <a:solidFill>
            <a:srgbClr val="3730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
            <a:ext cx="12191695" cy="28575"/>
          </a:xfrm>
          <a:prstGeom prst="rect">
            <a:avLst/>
          </a:prstGeom>
          <a:solidFill>
            <a:srgbClr val="586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00584"/>
            <a:ext cx="11057839" cy="329184"/>
          </a:xfrm>
          <a:prstGeom prst="rect">
            <a:avLst/>
          </a:prstGeom>
          <a:noFill/>
        </p:spPr>
        <p:txBody>
          <a:bodyPr wrap="square">
            <a:spAutoFit/>
          </a:bodyPr>
          <a:lstStyle/>
          <a:p>
            <a:pPr>
              <a:spcAft>
                <a:spcPts val="800"/>
              </a:spcAft>
              <a:defRPr sz="1100" b="0">
                <a:solidFill>
                  <a:srgbClr val="C7D2FE"/>
                </a:solidFill>
                <a:latin typeface="Helvetica Neue"/>
              </a:defRPr>
            </a:pPr>
            <a:r>
              <a:t>THE PROBLEM</a:t>
            </a:r>
          </a:p>
        </p:txBody>
      </p:sp>
      <p:sp>
        <p:nvSpPr>
          <p:cNvPr id="5" name="TextBox 4"/>
          <p:cNvSpPr txBox="1"/>
          <p:nvPr/>
        </p:nvSpPr>
        <p:spPr>
          <a:xfrm>
            <a:off x="566928" y="731520"/>
            <a:ext cx="11057839" cy="731520"/>
          </a:xfrm>
          <a:prstGeom prst="rect">
            <a:avLst/>
          </a:prstGeom>
          <a:noFill/>
        </p:spPr>
        <p:txBody>
          <a:bodyPr wrap="square">
            <a:spAutoFit/>
          </a:bodyPr>
          <a:lstStyle/>
          <a:p>
            <a:pPr>
              <a:spcAft>
                <a:spcPts val="800"/>
              </a:spcAft>
              <a:defRPr sz="3000" b="1">
                <a:solidFill>
                  <a:srgbClr val="18181B"/>
                </a:solidFill>
                <a:latin typeface="Helvetica Neue"/>
              </a:defRPr>
            </a:pPr>
            <a:r>
              <a:t>An appraiser's answers live in the boxes</a:t>
            </a:r>
          </a:p>
        </p:txBody>
      </p:sp>
      <p:sp>
        <p:nvSpPr>
          <p:cNvPr id="6" name="TextBox 5"/>
          <p:cNvSpPr txBox="1"/>
          <p:nvPr/>
        </p:nvSpPr>
        <p:spPr>
          <a:xfrm>
            <a:off x="566928" y="1389888"/>
            <a:ext cx="11057839" cy="502920"/>
          </a:xfrm>
          <a:prstGeom prst="rect">
            <a:avLst/>
          </a:prstGeom>
          <a:noFill/>
        </p:spPr>
        <p:txBody>
          <a:bodyPr wrap="square">
            <a:spAutoFit/>
          </a:bodyPr>
          <a:lstStyle/>
          <a:p>
            <a:pPr>
              <a:spcAft>
                <a:spcPts val="800"/>
              </a:spcAft>
              <a:defRPr sz="1600" b="0">
                <a:solidFill>
                  <a:srgbClr val="71717A"/>
                </a:solidFill>
                <a:latin typeface="Helvetica Neue"/>
              </a:defRPr>
            </a:pPr>
            <a:r>
              <a:t>PUD or not. Utilities public or not. Market declining or not. Every one is a small square.</a:t>
            </a:r>
          </a:p>
        </p:txBody>
      </p:sp>
      <p:pic>
        <p:nvPicPr>
          <p:cNvPr id="7" name="Picture 6" descr="hero-page.png"/>
          <p:cNvPicPr>
            <a:picLocks noChangeAspect="1"/>
          </p:cNvPicPr>
          <p:nvPr/>
        </p:nvPicPr>
        <p:blipFill>
          <a:blip r:embed="rId2"/>
          <a:stretch>
            <a:fillRect/>
          </a:stretch>
        </p:blipFill>
        <p:spPr>
          <a:xfrm>
            <a:off x="2590306" y="2103120"/>
            <a:ext cx="7011082" cy="42976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75488"/>
          </a:xfrm>
          <a:prstGeom prst="rect">
            <a:avLst/>
          </a:prstGeom>
          <a:solidFill>
            <a:srgbClr val="3730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
            <a:ext cx="12191695" cy="28575"/>
          </a:xfrm>
          <a:prstGeom prst="rect">
            <a:avLst/>
          </a:prstGeom>
          <a:solidFill>
            <a:srgbClr val="586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00584"/>
            <a:ext cx="11057839" cy="329184"/>
          </a:xfrm>
          <a:prstGeom prst="rect">
            <a:avLst/>
          </a:prstGeom>
          <a:noFill/>
        </p:spPr>
        <p:txBody>
          <a:bodyPr wrap="square">
            <a:spAutoFit/>
          </a:bodyPr>
          <a:lstStyle/>
          <a:p>
            <a:pPr>
              <a:spcAft>
                <a:spcPts val="800"/>
              </a:spcAft>
              <a:defRPr sz="1100" b="0">
                <a:solidFill>
                  <a:srgbClr val="C7D2FE"/>
                </a:solidFill>
                <a:latin typeface="Helvetica Neue"/>
              </a:defRPr>
            </a:pPr>
            <a:r>
              <a:t>THE PROBLEM</a:t>
            </a:r>
          </a:p>
        </p:txBody>
      </p:sp>
      <p:sp>
        <p:nvSpPr>
          <p:cNvPr id="5" name="TextBox 4"/>
          <p:cNvSpPr txBox="1"/>
          <p:nvPr/>
        </p:nvSpPr>
        <p:spPr>
          <a:xfrm>
            <a:off x="566928" y="731520"/>
            <a:ext cx="11057839" cy="731520"/>
          </a:xfrm>
          <a:prstGeom prst="rect">
            <a:avLst/>
          </a:prstGeom>
          <a:noFill/>
        </p:spPr>
        <p:txBody>
          <a:bodyPr wrap="square">
            <a:spAutoFit/>
          </a:bodyPr>
          <a:lstStyle/>
          <a:p>
            <a:pPr>
              <a:spcAft>
                <a:spcPts val="800"/>
              </a:spcAft>
              <a:defRPr sz="3000" b="1">
                <a:solidFill>
                  <a:srgbClr val="18181B"/>
                </a:solidFill>
                <a:latin typeface="Helvetica Neue"/>
              </a:defRPr>
            </a:pPr>
            <a:r>
              <a:t>Four things break a naive reader</a:t>
            </a:r>
          </a:p>
        </p:txBody>
      </p:sp>
      <p:sp>
        <p:nvSpPr>
          <p:cNvPr id="6" name="TextBox 5"/>
          <p:cNvSpPr txBox="1"/>
          <p:nvPr/>
        </p:nvSpPr>
        <p:spPr>
          <a:xfrm>
            <a:off x="566928" y="1389888"/>
            <a:ext cx="11057839" cy="502920"/>
          </a:xfrm>
          <a:prstGeom prst="rect">
            <a:avLst/>
          </a:prstGeom>
          <a:noFill/>
        </p:spPr>
        <p:txBody>
          <a:bodyPr wrap="square">
            <a:spAutoFit/>
          </a:bodyPr>
          <a:lstStyle/>
          <a:p>
            <a:pPr>
              <a:spcAft>
                <a:spcPts val="800"/>
              </a:spcAft>
              <a:defRPr sz="1600" b="0">
                <a:solidFill>
                  <a:srgbClr val="71717A"/>
                </a:solidFill>
                <a:latin typeface="Helvetica Neue"/>
              </a:defRPr>
            </a:pPr>
            <a:r>
              <a:t>One of each is planted in the sample pages.</a:t>
            </a:r>
          </a:p>
        </p:txBody>
      </p:sp>
      <p:pic>
        <p:nvPicPr>
          <p:cNvPr id="7" name="Picture 6" descr="four-traps.png"/>
          <p:cNvPicPr>
            <a:picLocks noChangeAspect="1"/>
          </p:cNvPicPr>
          <p:nvPr/>
        </p:nvPicPr>
        <p:blipFill>
          <a:blip r:embed="rId2"/>
          <a:stretch>
            <a:fillRect/>
          </a:stretch>
        </p:blipFill>
        <p:spPr>
          <a:xfrm>
            <a:off x="2675245" y="2103120"/>
            <a:ext cx="6841204" cy="42976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75488"/>
          </a:xfrm>
          <a:prstGeom prst="rect">
            <a:avLst/>
          </a:prstGeom>
          <a:solidFill>
            <a:srgbClr val="3730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
            <a:ext cx="12191695" cy="28575"/>
          </a:xfrm>
          <a:prstGeom prst="rect">
            <a:avLst/>
          </a:prstGeom>
          <a:solidFill>
            <a:srgbClr val="586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00584"/>
            <a:ext cx="11057839" cy="329184"/>
          </a:xfrm>
          <a:prstGeom prst="rect">
            <a:avLst/>
          </a:prstGeom>
          <a:noFill/>
        </p:spPr>
        <p:txBody>
          <a:bodyPr wrap="square">
            <a:spAutoFit/>
          </a:bodyPr>
          <a:lstStyle/>
          <a:p>
            <a:pPr>
              <a:spcAft>
                <a:spcPts val="800"/>
              </a:spcAft>
              <a:defRPr sz="1100" b="0">
                <a:solidFill>
                  <a:srgbClr val="C7D2FE"/>
                </a:solidFill>
                <a:latin typeface="Helvetica Neue"/>
              </a:defRPr>
            </a:pPr>
            <a:r>
              <a:t>HOW IT WORKS</a:t>
            </a:r>
          </a:p>
        </p:txBody>
      </p:sp>
      <p:sp>
        <p:nvSpPr>
          <p:cNvPr id="5" name="TextBox 4"/>
          <p:cNvSpPr txBox="1"/>
          <p:nvPr/>
        </p:nvSpPr>
        <p:spPr>
          <a:xfrm>
            <a:off x="566928" y="731520"/>
            <a:ext cx="11057839" cy="731520"/>
          </a:xfrm>
          <a:prstGeom prst="rect">
            <a:avLst/>
          </a:prstGeom>
          <a:noFill/>
        </p:spPr>
        <p:txBody>
          <a:bodyPr wrap="square">
            <a:spAutoFit/>
          </a:bodyPr>
          <a:lstStyle/>
          <a:p>
            <a:pPr>
              <a:spcAft>
                <a:spcPts val="800"/>
              </a:spcAft>
              <a:defRPr sz="3000" b="1">
                <a:solidFill>
                  <a:srgbClr val="18181B"/>
                </a:solidFill>
                <a:latin typeface="Helvetica Neue"/>
              </a:defRPr>
            </a:pPr>
            <a:r>
              <a:t>Two readers, and a queue for what they cannot settle</a:t>
            </a:r>
          </a:p>
        </p:txBody>
      </p:sp>
      <p:sp>
        <p:nvSpPr>
          <p:cNvPr id="6" name="Rounded Rectangle 5"/>
          <p:cNvSpPr/>
          <p:nvPr/>
        </p:nvSpPr>
        <p:spPr>
          <a:xfrm>
            <a:off x="566928" y="2011680"/>
            <a:ext cx="1344559" cy="868680"/>
          </a:xfrm>
          <a:prstGeom prst="roundRect">
            <a:avLst/>
          </a:prstGeom>
          <a:solidFill>
            <a:srgbClr val="EEF2FF"/>
          </a:solidFill>
          <a:ln w="1397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defRPr sz="1100" b="1">
                <a:solidFill>
                  <a:srgbClr val="18181B"/>
                </a:solidFill>
                <a:latin typeface="Helvetica Neue"/>
              </a:defRPr>
            </a:pPr>
            <a:r>
              <a:t>Clean up</a:t>
            </a:r>
          </a:p>
          <a:p>
            <a:pPr algn="ctr">
              <a:defRPr sz="900" b="0">
                <a:solidFill>
                  <a:srgbClr val="18181B"/>
                </a:solidFill>
                <a:latin typeface="Helvetica Neue"/>
              </a:defRPr>
            </a:pPr>
            <a:r>
              <a:t>the page</a:t>
            </a:r>
          </a:p>
        </p:txBody>
      </p:sp>
      <p:sp>
        <p:nvSpPr>
          <p:cNvPr id="7" name="Rounded Rectangle 6"/>
          <p:cNvSpPr/>
          <p:nvPr/>
        </p:nvSpPr>
        <p:spPr>
          <a:xfrm>
            <a:off x="2185807" y="2011680"/>
            <a:ext cx="1344559" cy="868680"/>
          </a:xfrm>
          <a:prstGeom prst="roundRect">
            <a:avLst/>
          </a:prstGeom>
          <a:solidFill>
            <a:srgbClr val="EEF2FF"/>
          </a:solidFill>
          <a:ln w="1397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defRPr sz="1100" b="1">
                <a:solidFill>
                  <a:srgbClr val="18181B"/>
                </a:solidFill>
                <a:latin typeface="Helvetica Neue"/>
              </a:defRPr>
            </a:pPr>
            <a:r>
              <a:t>Reader 1</a:t>
            </a:r>
          </a:p>
          <a:p>
            <a:pPr algn="ctr">
              <a:defRPr sz="900" b="0">
                <a:solidFill>
                  <a:srgbClr val="18181B"/>
                </a:solidFill>
                <a:latin typeface="Helvetica Neue"/>
              </a:defRPr>
            </a:pPr>
            <a:r>
              <a:t>printed lines</a:t>
            </a:r>
          </a:p>
        </p:txBody>
      </p:sp>
      <p:sp>
        <p:nvSpPr>
          <p:cNvPr id="8" name="Rounded Rectangle 7"/>
          <p:cNvSpPr/>
          <p:nvPr/>
        </p:nvSpPr>
        <p:spPr>
          <a:xfrm>
            <a:off x="3804686" y="2011680"/>
            <a:ext cx="1344559" cy="868680"/>
          </a:xfrm>
          <a:prstGeom prst="roundRect">
            <a:avLst/>
          </a:prstGeom>
          <a:solidFill>
            <a:srgbClr val="EEF2FF"/>
          </a:solidFill>
          <a:ln w="1397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defRPr sz="1100" b="1">
                <a:solidFill>
                  <a:srgbClr val="18181B"/>
                </a:solidFill>
                <a:latin typeface="Helvetica Neue"/>
              </a:defRPr>
            </a:pPr>
            <a:r>
              <a:t>Reader 2</a:t>
            </a:r>
          </a:p>
          <a:p>
            <a:pPr algn="ctr">
              <a:defRPr sz="900" b="0">
                <a:solidFill>
                  <a:srgbClr val="18181B"/>
                </a:solidFill>
                <a:latin typeface="Helvetica Neue"/>
              </a:defRPr>
            </a:pPr>
            <a:r>
              <a:t>blank form</a:t>
            </a:r>
          </a:p>
        </p:txBody>
      </p:sp>
      <p:sp>
        <p:nvSpPr>
          <p:cNvPr id="9" name="Rounded Rectangle 8"/>
          <p:cNvSpPr/>
          <p:nvPr/>
        </p:nvSpPr>
        <p:spPr>
          <a:xfrm>
            <a:off x="5423565" y="2011680"/>
            <a:ext cx="1344559" cy="868680"/>
          </a:xfrm>
          <a:prstGeom prst="roundRect">
            <a:avLst/>
          </a:prstGeom>
          <a:solidFill>
            <a:srgbClr val="FFFFFF"/>
          </a:solidFill>
          <a:ln w="13970">
            <a:solidFill>
              <a:srgbClr val="7171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defRPr sz="1100" b="1">
                <a:solidFill>
                  <a:srgbClr val="18181B"/>
                </a:solidFill>
                <a:latin typeface="Helvetica Neue"/>
              </a:defRPr>
            </a:pPr>
            <a:r>
              <a:t>Both</a:t>
            </a:r>
          </a:p>
          <a:p>
            <a:pPr algn="ctr">
              <a:defRPr sz="900" b="0">
                <a:solidFill>
                  <a:srgbClr val="18181B"/>
                </a:solidFill>
                <a:latin typeface="Helvetica Neue"/>
              </a:defRPr>
            </a:pPr>
            <a:r>
              <a:t>agree?</a:t>
            </a:r>
          </a:p>
        </p:txBody>
      </p:sp>
      <p:sp>
        <p:nvSpPr>
          <p:cNvPr id="10" name="Rounded Rectangle 9"/>
          <p:cNvSpPr/>
          <p:nvPr/>
        </p:nvSpPr>
        <p:spPr>
          <a:xfrm>
            <a:off x="7042444" y="2011680"/>
            <a:ext cx="1344559" cy="868680"/>
          </a:xfrm>
          <a:prstGeom prst="roundRect">
            <a:avLst/>
          </a:prstGeom>
          <a:solidFill>
            <a:srgbClr val="EEF2FF"/>
          </a:solidFill>
          <a:ln w="1397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defRPr sz="1100" b="1">
                <a:solidFill>
                  <a:srgbClr val="18181B"/>
                </a:solidFill>
                <a:latin typeface="Helvetica Neue"/>
              </a:defRPr>
            </a:pPr>
            <a:r>
              <a:t>Read the</a:t>
            </a:r>
          </a:p>
          <a:p>
            <a:pPr algn="ctr">
              <a:defRPr sz="900" b="0">
                <a:solidFill>
                  <a:srgbClr val="18181B"/>
                </a:solidFill>
                <a:latin typeface="Helvetica Neue"/>
              </a:defRPr>
            </a:pPr>
            <a:r>
              <a:t>mark</a:t>
            </a:r>
          </a:p>
        </p:txBody>
      </p:sp>
      <p:sp>
        <p:nvSpPr>
          <p:cNvPr id="11" name="Rounded Rectangle 10"/>
          <p:cNvSpPr/>
          <p:nvPr/>
        </p:nvSpPr>
        <p:spPr>
          <a:xfrm>
            <a:off x="8661323" y="2011680"/>
            <a:ext cx="1344559" cy="868680"/>
          </a:xfrm>
          <a:prstGeom prst="roundRect">
            <a:avLst/>
          </a:prstGeom>
          <a:solidFill>
            <a:srgbClr val="FFFFFF"/>
          </a:solidFill>
          <a:ln w="13970">
            <a:solidFill>
              <a:srgbClr val="7171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defRPr sz="1100" b="1">
                <a:solidFill>
                  <a:srgbClr val="18181B"/>
                </a:solidFill>
                <a:latin typeface="Helvetica Neue"/>
              </a:defRPr>
            </a:pPr>
            <a:r>
              <a:t>Confident?</a:t>
            </a:r>
          </a:p>
        </p:txBody>
      </p:sp>
      <p:sp>
        <p:nvSpPr>
          <p:cNvPr id="12" name="Rounded Rectangle 11"/>
          <p:cNvSpPr/>
          <p:nvPr/>
        </p:nvSpPr>
        <p:spPr>
          <a:xfrm>
            <a:off x="10280202" y="2011680"/>
            <a:ext cx="1344559" cy="868680"/>
          </a:xfrm>
          <a:prstGeom prst="roundRect">
            <a:avLst/>
          </a:prstGeom>
          <a:solidFill>
            <a:srgbClr val="F4F6F8"/>
          </a:solidFill>
          <a:ln w="13970">
            <a:solidFill>
              <a:srgbClr val="71717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defRPr sz="1100" b="1">
                <a:solidFill>
                  <a:srgbClr val="18181B"/>
                </a:solidFill>
                <a:latin typeface="Helvetica Neue"/>
              </a:defRPr>
            </a:pPr>
            <a:r>
              <a:t>Checked</a:t>
            </a:r>
          </a:p>
          <a:p>
            <a:pPr algn="ctr">
              <a:defRPr sz="900" b="0">
                <a:solidFill>
                  <a:srgbClr val="18181B"/>
                </a:solidFill>
                <a:latin typeface="Helvetica Neue"/>
              </a:defRPr>
            </a:pPr>
            <a:r>
              <a:t>or empty</a:t>
            </a:r>
          </a:p>
        </p:txBody>
      </p:sp>
      <p:cxnSp>
        <p:nvCxnSpPr>
          <p:cNvPr id="13" name="Connector 12"/>
          <p:cNvCxnSpPr/>
          <p:nvPr/>
        </p:nvCxnSpPr>
        <p:spPr>
          <a:xfrm>
            <a:off x="1911487" y="2446020"/>
            <a:ext cx="274320" cy="0"/>
          </a:xfrm>
          <a:prstGeom prst="line">
            <a:avLst/>
          </a:prstGeom>
          <a:ln w="15875">
            <a:solidFill>
              <a:srgbClr val="7171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530366" y="2446020"/>
            <a:ext cx="274320" cy="0"/>
          </a:xfrm>
          <a:prstGeom prst="line">
            <a:avLst/>
          </a:prstGeom>
          <a:ln w="15875">
            <a:solidFill>
              <a:srgbClr val="7171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149245" y="2446020"/>
            <a:ext cx="274320" cy="0"/>
          </a:xfrm>
          <a:prstGeom prst="line">
            <a:avLst/>
          </a:prstGeom>
          <a:ln w="15875">
            <a:solidFill>
              <a:srgbClr val="7171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768124" y="2446020"/>
            <a:ext cx="274320" cy="0"/>
          </a:xfrm>
          <a:prstGeom prst="line">
            <a:avLst/>
          </a:prstGeom>
          <a:ln w="15875">
            <a:solidFill>
              <a:srgbClr val="7171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387003" y="2446020"/>
            <a:ext cx="274320" cy="0"/>
          </a:xfrm>
          <a:prstGeom prst="line">
            <a:avLst/>
          </a:prstGeom>
          <a:ln w="15875">
            <a:solidFill>
              <a:srgbClr val="7171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005882" y="2446020"/>
            <a:ext cx="274320" cy="0"/>
          </a:xfrm>
          <a:prstGeom prst="line">
            <a:avLst/>
          </a:prstGeom>
          <a:ln w="15875">
            <a:solidFill>
              <a:srgbClr val="7171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389888" y="3886199"/>
            <a:ext cx="3017520" cy="868680"/>
          </a:xfrm>
          <a:prstGeom prst="roundRect">
            <a:avLst/>
          </a:prstGeom>
          <a:solidFill>
            <a:srgbClr val="FFF4E0"/>
          </a:solidFill>
          <a:ln w="13970">
            <a:solidFill>
              <a:srgbClr val="D97A1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defRPr sz="1100" b="1">
                <a:solidFill>
                  <a:srgbClr val="18181B"/>
                </a:solidFill>
                <a:latin typeface="Helvetica Neue"/>
              </a:defRPr>
            </a:pPr>
            <a:r>
              <a:t>Exception queue</a:t>
            </a:r>
          </a:p>
          <a:p>
            <a:pPr algn="ctr">
              <a:defRPr sz="900" b="0">
                <a:solidFill>
                  <a:srgbClr val="18181B"/>
                </a:solidFill>
                <a:latin typeface="Helvetica Neue"/>
              </a:defRPr>
            </a:pPr>
            <a:r>
              <a:t>every item carries a reason</a:t>
            </a:r>
          </a:p>
        </p:txBody>
      </p:sp>
      <p:sp>
        <p:nvSpPr>
          <p:cNvPr id="20" name="Rounded Rectangle 19"/>
          <p:cNvSpPr/>
          <p:nvPr/>
        </p:nvSpPr>
        <p:spPr>
          <a:xfrm>
            <a:off x="4818888" y="3886199"/>
            <a:ext cx="2651760" cy="868680"/>
          </a:xfrm>
          <a:prstGeom prst="roundRect">
            <a:avLst/>
          </a:prstGeom>
          <a:solidFill>
            <a:srgbClr val="FFF4E0"/>
          </a:solidFill>
          <a:ln w="13970">
            <a:solidFill>
              <a:srgbClr val="D97A1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defRPr sz="1100" b="1">
                <a:solidFill>
                  <a:srgbClr val="18181B"/>
                </a:solidFill>
                <a:latin typeface="Helvetica Neue"/>
              </a:defRPr>
            </a:pPr>
            <a:r>
              <a:t>AI check on the crop</a:t>
            </a:r>
          </a:p>
          <a:p>
            <a:pPr algn="ctr">
              <a:defRPr sz="900" b="0">
                <a:solidFill>
                  <a:srgbClr val="18181B"/>
                </a:solidFill>
                <a:latin typeface="Helvetica Neue"/>
              </a:defRPr>
            </a:pPr>
            <a:r>
              <a:t>off by default</a:t>
            </a:r>
          </a:p>
        </p:txBody>
      </p:sp>
      <p:sp>
        <p:nvSpPr>
          <p:cNvPr id="21" name="Rounded Rectangle 20"/>
          <p:cNvSpPr/>
          <p:nvPr/>
        </p:nvSpPr>
        <p:spPr>
          <a:xfrm>
            <a:off x="7882128" y="3886199"/>
            <a:ext cx="2834640" cy="868680"/>
          </a:xfrm>
          <a:prstGeom prst="roundRect">
            <a:avLst/>
          </a:prstGeom>
          <a:solidFill>
            <a:srgbClr val="E9F7EC"/>
          </a:solidFill>
          <a:ln w="13970">
            <a:solidFill>
              <a:srgbClr val="3A9D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defRPr sz="1100" b="1">
                <a:solidFill>
                  <a:srgbClr val="18181B"/>
                </a:solidFill>
                <a:latin typeface="Helvetica Neue"/>
              </a:defRPr>
            </a:pPr>
            <a:r>
              <a:t>A person sets the rule</a:t>
            </a:r>
          </a:p>
          <a:p>
            <a:pPr algn="ctr">
              <a:defRPr sz="900" b="0">
                <a:solidFill>
                  <a:srgbClr val="18181B"/>
                </a:solidFill>
                <a:latin typeface="Helvetica Neue"/>
              </a:defRPr>
            </a:pPr>
            <a:r>
              <a:t>and it becomes policy</a:t>
            </a:r>
          </a:p>
        </p:txBody>
      </p:sp>
      <p:cxnSp>
        <p:nvCxnSpPr>
          <p:cNvPr id="22" name="Connector 21"/>
          <p:cNvCxnSpPr/>
          <p:nvPr/>
        </p:nvCxnSpPr>
        <p:spPr>
          <a:xfrm>
            <a:off x="4407408" y="4320539"/>
            <a:ext cx="411480" cy="0"/>
          </a:xfrm>
          <a:prstGeom prst="line">
            <a:avLst/>
          </a:prstGeom>
          <a:ln w="15875">
            <a:solidFill>
              <a:srgbClr val="7171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470648" y="4320539"/>
            <a:ext cx="411480" cy="0"/>
          </a:xfrm>
          <a:prstGeom prst="line">
            <a:avLst/>
          </a:prstGeom>
          <a:ln w="15875">
            <a:solidFill>
              <a:srgbClr val="7171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029968" y="2880360"/>
            <a:ext cx="4065876" cy="1005839"/>
          </a:xfrm>
          <a:prstGeom prst="line">
            <a:avLst/>
          </a:prstGeom>
          <a:ln w="15875">
            <a:solidFill>
              <a:srgbClr val="71717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3675888" y="2880360"/>
            <a:ext cx="5657714" cy="1005839"/>
          </a:xfrm>
          <a:prstGeom prst="line">
            <a:avLst/>
          </a:prstGeom>
          <a:ln w="15875">
            <a:solidFill>
              <a:srgbClr val="7171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66928" y="5806440"/>
            <a:ext cx="11057839" cy="822960"/>
          </a:xfrm>
          <a:prstGeom prst="rect">
            <a:avLst/>
          </a:prstGeom>
          <a:noFill/>
        </p:spPr>
        <p:txBody>
          <a:bodyPr wrap="square">
            <a:spAutoFit/>
          </a:bodyPr>
          <a:lstStyle/>
          <a:p>
            <a:pPr>
              <a:spcAft>
                <a:spcPts val="800"/>
              </a:spcAft>
              <a:defRPr sz="1600" b="0">
                <a:solidFill>
                  <a:srgbClr val="71717A"/>
                </a:solidFill>
                <a:latin typeface="Helvetica Neue"/>
              </a:defRPr>
            </a:pPr>
            <a:r>
              <a:t>97.6% of boxes never leave the top row. 2.4% carry a reason code into the queue. Nothing in the top row is a model.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75488"/>
          </a:xfrm>
          <a:prstGeom prst="rect">
            <a:avLst/>
          </a:prstGeom>
          <a:solidFill>
            <a:srgbClr val="3730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
            <a:ext cx="12191695" cy="28575"/>
          </a:xfrm>
          <a:prstGeom prst="rect">
            <a:avLst/>
          </a:prstGeom>
          <a:solidFill>
            <a:srgbClr val="586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00584"/>
            <a:ext cx="11057839" cy="329184"/>
          </a:xfrm>
          <a:prstGeom prst="rect">
            <a:avLst/>
          </a:prstGeom>
          <a:noFill/>
        </p:spPr>
        <p:txBody>
          <a:bodyPr wrap="square">
            <a:spAutoFit/>
          </a:bodyPr>
          <a:lstStyle/>
          <a:p>
            <a:pPr>
              <a:spcAft>
                <a:spcPts val="800"/>
              </a:spcAft>
              <a:defRPr sz="1100" b="0">
                <a:solidFill>
                  <a:srgbClr val="C7D2FE"/>
                </a:solidFill>
                <a:latin typeface="Helvetica Neue"/>
              </a:defRPr>
            </a:pPr>
            <a:r>
              <a:t>FOUR DIMENSIONS</a:t>
            </a:r>
          </a:p>
        </p:txBody>
      </p:sp>
      <p:sp>
        <p:nvSpPr>
          <p:cNvPr id="5" name="TextBox 4"/>
          <p:cNvSpPr txBox="1"/>
          <p:nvPr/>
        </p:nvSpPr>
        <p:spPr>
          <a:xfrm>
            <a:off x="566928" y="731520"/>
            <a:ext cx="11057839" cy="731520"/>
          </a:xfrm>
          <a:prstGeom prst="rect">
            <a:avLst/>
          </a:prstGeom>
          <a:noFill/>
        </p:spPr>
        <p:txBody>
          <a:bodyPr wrap="square">
            <a:spAutoFit/>
          </a:bodyPr>
          <a:lstStyle/>
          <a:p>
            <a:pPr>
              <a:spcAft>
                <a:spcPts val="800"/>
              </a:spcAft>
              <a:defRPr sz="3000" b="1">
                <a:solidFill>
                  <a:srgbClr val="18181B"/>
                </a:solidFill>
                <a:latin typeface="Helvetica Neue"/>
              </a:defRPr>
            </a:pPr>
            <a:r>
              <a:t>1. Accuracy, against whose definition?</a:t>
            </a:r>
          </a:p>
        </p:txBody>
      </p:sp>
      <p:sp>
        <p:nvSpPr>
          <p:cNvPr id="6" name="TextBox 5"/>
          <p:cNvSpPr txBox="1"/>
          <p:nvPr/>
        </p:nvSpPr>
        <p:spPr>
          <a:xfrm>
            <a:off x="566928" y="1389888"/>
            <a:ext cx="11057839" cy="502920"/>
          </a:xfrm>
          <a:prstGeom prst="rect">
            <a:avLst/>
          </a:prstGeom>
          <a:noFill/>
        </p:spPr>
        <p:txBody>
          <a:bodyPr wrap="square">
            <a:spAutoFit/>
          </a:bodyPr>
          <a:lstStyle/>
          <a:p>
            <a:pPr>
              <a:spcAft>
                <a:spcPts val="800"/>
              </a:spcAft>
              <a:defRPr sz="1600" b="0">
                <a:solidFill>
                  <a:srgbClr val="71717A"/>
                </a:solidFill>
                <a:latin typeface="Helvetica Neue"/>
              </a:defRPr>
            </a:pPr>
            <a:r>
              <a:t>A circle instead of an X. A box struck out. A tick that overshoots. Each is defensible either way.</a:t>
            </a:r>
          </a:p>
        </p:txBody>
      </p:sp>
      <p:sp>
        <p:nvSpPr>
          <p:cNvPr id="7" name="TextBox 6"/>
          <p:cNvSpPr txBox="1"/>
          <p:nvPr/>
        </p:nvSpPr>
        <p:spPr>
          <a:xfrm>
            <a:off x="566928" y="2240280"/>
            <a:ext cx="4937760" cy="4023360"/>
          </a:xfrm>
          <a:prstGeom prst="rect">
            <a:avLst/>
          </a:prstGeom>
          <a:noFill/>
        </p:spPr>
        <p:txBody>
          <a:bodyPr wrap="square">
            <a:spAutoFit/>
          </a:bodyPr>
          <a:lstStyle/>
          <a:p>
            <a:pPr>
              <a:spcAft>
                <a:spcPts val="800"/>
              </a:spcAft>
              <a:defRPr sz="1600" b="0">
                <a:solidFill>
                  <a:srgbClr val="18181B"/>
                </a:solidFill>
                <a:latin typeface="Helvetica Neue"/>
              </a:defRPr>
            </a:pPr>
            <a:r>
              <a:t>None of those is ours to decide. One lender wants the circle counted, another wants it sent to a person, and both are right about their own files.</a:t>
            </a:r>
          </a:p>
          <a:p>
            <a:pPr>
              <a:spcAft>
                <a:spcPts val="800"/>
              </a:spcAft>
              <a:defRPr sz="1600" b="0">
                <a:solidFill>
                  <a:srgbClr val="18181B"/>
                </a:solidFill>
                <a:latin typeface="Helvetica Neue"/>
              </a:defRPr>
            </a:pPr>
          </a:p>
          <a:p>
            <a:pPr>
              <a:spcAft>
                <a:spcPts val="800"/>
              </a:spcAft>
              <a:defRPr sz="1600" b="0">
                <a:solidFill>
                  <a:srgbClr val="18181B"/>
                </a:solidFill>
                <a:latin typeface="Helvetica Neue"/>
              </a:defRPr>
            </a:pPr>
            <a:r>
              <a:t>So the definition lives in one settings file the customer owns. Changing what counts as a mark is editing that file. Not a ticket, not a release, not a call with us.</a:t>
            </a:r>
          </a:p>
          <a:p>
            <a:pPr>
              <a:spcAft>
                <a:spcPts val="800"/>
              </a:spcAft>
              <a:defRPr sz="1600" b="0">
                <a:solidFill>
                  <a:srgbClr val="18181B"/>
                </a:solidFill>
                <a:latin typeface="Helvetica Neue"/>
              </a:defRPr>
            </a:pPr>
          </a:p>
          <a:p>
            <a:pPr>
              <a:spcAft>
                <a:spcPts val="800"/>
              </a:spcAft>
              <a:defRPr sz="1600" b="0">
                <a:solidFill>
                  <a:srgbClr val="18181B"/>
                </a:solidFill>
                <a:latin typeface="Helvetica Neue"/>
              </a:defRPr>
            </a:pPr>
            <a:r>
              <a:t>uv run python scripts/compare_policies.py</a:t>
            </a:r>
          </a:p>
        </p:txBody>
      </p:sp>
      <p:graphicFrame>
        <p:nvGraphicFramePr>
          <p:cNvPr id="8" name="Table 7"/>
          <p:cNvGraphicFramePr>
            <a:graphicFrameLocks noGrp="1"/>
          </p:cNvGraphicFramePr>
          <p:nvPr/>
        </p:nvGraphicFramePr>
        <p:xfrm>
          <a:off x="5760720" y="2331720"/>
          <a:ext cx="5852159" cy="1554480"/>
        </p:xfrm>
        <a:graphic>
          <a:graphicData uri="http://schemas.openxmlformats.org/drawingml/2006/table">
            <a:tbl>
              <a:tblPr firstRow="1" bandRow="1">
                <a:tableStyleId>{5C22544A-7EE6-4342-B048-85BDC9FD1C3A}</a:tableStyleId>
              </a:tblPr>
              <a:tblGrid>
                <a:gridCol w="2340864"/>
                <a:gridCol w="1596043"/>
                <a:gridCol w="1915252"/>
              </a:tblGrid>
              <a:tr h="310896">
                <a:tc>
                  <a:txBody>
                    <a:bodyPr/>
                    <a:lstStyle/>
                    <a:p>
                      <a:pPr>
                        <a:defRPr sz="1300" b="1">
                          <a:solidFill>
                            <a:srgbClr val="FFFFFF"/>
                          </a:solidFill>
                          <a:latin typeface="Helvetica Neue"/>
                        </a:defRPr>
                      </a:pPr>
                    </a:p>
                  </a:txBody>
                  <a:tcPr marL="64008" marR="64008" marT="27432" marB="27432">
                    <a:solidFill>
                      <a:srgbClr val="3730A3"/>
                    </a:solidFill>
                  </a:tcPr>
                </a:tc>
                <a:tc>
                  <a:txBody>
                    <a:bodyPr/>
                    <a:lstStyle/>
                    <a:p>
                      <a:pPr>
                        <a:defRPr sz="1300" b="1">
                          <a:solidFill>
                            <a:srgbClr val="FFFFFF"/>
                          </a:solidFill>
                          <a:latin typeface="Helvetica Neue"/>
                        </a:defRPr>
                      </a:pPr>
                      <a:r>
                        <a:t>shipped</a:t>
                      </a:r>
                    </a:p>
                  </a:txBody>
                  <a:tcPr marL="64008" marR="64008" marT="27432" marB="27432">
                    <a:solidFill>
                      <a:srgbClr val="3730A3"/>
                    </a:solidFill>
                  </a:tcPr>
                </a:tc>
                <a:tc>
                  <a:txBody>
                    <a:bodyPr/>
                    <a:lstStyle/>
                    <a:p>
                      <a:pPr>
                        <a:defRPr sz="1300" b="1">
                          <a:solidFill>
                            <a:srgbClr val="FFFFFF"/>
                          </a:solidFill>
                          <a:latin typeface="Helvetica Neue"/>
                        </a:defRPr>
                      </a:pPr>
                      <a:r>
                        <a:t>a stricter customer</a:t>
                      </a:r>
                    </a:p>
                  </a:txBody>
                  <a:tcPr marL="64008" marR="64008" marT="27432" marB="27432">
                    <a:solidFill>
                      <a:srgbClr val="3730A3"/>
                    </a:solidFill>
                  </a:tcPr>
                </a:tc>
              </a:tr>
              <a:tr h="310896">
                <a:tc>
                  <a:txBody>
                    <a:bodyPr/>
                    <a:lstStyle/>
                    <a:p>
                      <a:pPr>
                        <a:defRPr sz="1300" b="0">
                          <a:solidFill>
                            <a:srgbClr val="18181B"/>
                          </a:solidFill>
                          <a:latin typeface="Helvetica Neue"/>
                        </a:defRPr>
                      </a:pPr>
                      <a:r>
                        <a:t>a single thin stroke</a:t>
                      </a:r>
                    </a:p>
                  </a:txBody>
                  <a:tcPr marL="64008" marR="64008" marT="27432" marB="27432">
                    <a:solidFill>
                      <a:srgbClr val="FFFFFF"/>
                    </a:solidFill>
                  </a:tcPr>
                </a:tc>
                <a:tc>
                  <a:txBody>
                    <a:bodyPr/>
                    <a:lstStyle/>
                    <a:p>
                      <a:pPr>
                        <a:defRPr sz="1300" b="0">
                          <a:solidFill>
                            <a:srgbClr val="18181B"/>
                          </a:solidFill>
                          <a:latin typeface="Helvetica Neue"/>
                        </a:defRPr>
                      </a:pPr>
                      <a:r>
                        <a:t>counts as marked</a:t>
                      </a:r>
                    </a:p>
                  </a:txBody>
                  <a:tcPr marL="64008" marR="64008" marT="27432" marB="27432">
                    <a:solidFill>
                      <a:srgbClr val="FFFFFF"/>
                    </a:solidFill>
                  </a:tcPr>
                </a:tc>
                <a:tc>
                  <a:txBody>
                    <a:bodyPr/>
                    <a:lstStyle/>
                    <a:p>
                      <a:pPr>
                        <a:defRPr sz="1300" b="0">
                          <a:solidFill>
                            <a:srgbClr val="18181B"/>
                          </a:solidFill>
                          <a:latin typeface="Helvetica Neue"/>
                        </a:defRPr>
                      </a:pPr>
                      <a:r>
                        <a:t>flag, do not decide</a:t>
                      </a:r>
                    </a:p>
                  </a:txBody>
                  <a:tcPr marL="64008" marR="64008" marT="27432" marB="27432">
                    <a:solidFill>
                      <a:srgbClr val="FFFFFF"/>
                    </a:solidFill>
                  </a:tcPr>
                </a:tc>
              </a:tr>
              <a:tr h="310896">
                <a:tc>
                  <a:txBody>
                    <a:bodyPr/>
                    <a:lstStyle/>
                    <a:p>
                      <a:pPr>
                        <a:defRPr sz="1300" b="0">
                          <a:solidFill>
                            <a:srgbClr val="18181B"/>
                          </a:solidFill>
                          <a:latin typeface="Helvetica Neue"/>
                        </a:defRPr>
                      </a:pPr>
                      <a:r>
                        <a:t>a box scribbled out</a:t>
                      </a:r>
                    </a:p>
                  </a:txBody>
                  <a:tcPr marL="64008" marR="64008" marT="27432" marB="27432">
                    <a:solidFill>
                      <a:srgbClr val="F8FAFC"/>
                    </a:solidFill>
                  </a:tcPr>
                </a:tc>
                <a:tc>
                  <a:txBody>
                    <a:bodyPr/>
                    <a:lstStyle/>
                    <a:p>
                      <a:pPr>
                        <a:defRPr sz="1300" b="0">
                          <a:solidFill>
                            <a:srgbClr val="18181B"/>
                          </a:solidFill>
                          <a:latin typeface="Helvetica Neue"/>
                        </a:defRPr>
                      </a:pPr>
                      <a:r>
                        <a:t>read as empty</a:t>
                      </a:r>
                    </a:p>
                  </a:txBody>
                  <a:tcPr marL="64008" marR="64008" marT="27432" marB="27432">
                    <a:solidFill>
                      <a:srgbClr val="F8FAFC"/>
                    </a:solidFill>
                  </a:tcPr>
                </a:tc>
                <a:tc>
                  <a:txBody>
                    <a:bodyPr/>
                    <a:lstStyle/>
                    <a:p>
                      <a:pPr>
                        <a:defRPr sz="1300" b="0">
                          <a:solidFill>
                            <a:srgbClr val="18181B"/>
                          </a:solidFill>
                          <a:latin typeface="Helvetica Neue"/>
                        </a:defRPr>
                      </a:pPr>
                      <a:r>
                        <a:t>flag, do not overrule ink</a:t>
                      </a:r>
                    </a:p>
                  </a:txBody>
                  <a:tcPr marL="64008" marR="64008" marT="27432" marB="27432">
                    <a:solidFill>
                      <a:srgbClr val="F8FAFC"/>
                    </a:solidFill>
                  </a:tcPr>
                </a:tc>
              </a:tr>
              <a:tr h="310896">
                <a:tc>
                  <a:txBody>
                    <a:bodyPr/>
                    <a:lstStyle/>
                    <a:p>
                      <a:pPr>
                        <a:defRPr sz="1300" b="0">
                          <a:solidFill>
                            <a:srgbClr val="18181B"/>
                          </a:solidFill>
                          <a:latin typeface="Helvetica Neue"/>
                        </a:defRPr>
                      </a:pPr>
                      <a:r>
                        <a:t>uncertain band</a:t>
                      </a:r>
                    </a:p>
                  </a:txBody>
                  <a:tcPr marL="64008" marR="64008" marT="27432" marB="27432">
                    <a:solidFill>
                      <a:srgbClr val="FFFFFF"/>
                    </a:solidFill>
                  </a:tcPr>
                </a:tc>
                <a:tc>
                  <a:txBody>
                    <a:bodyPr/>
                    <a:lstStyle/>
                    <a:p>
                      <a:pPr>
                        <a:defRPr sz="1300" b="0">
                          <a:solidFill>
                            <a:srgbClr val="18181B"/>
                          </a:solidFill>
                          <a:latin typeface="Helvetica Neue"/>
                        </a:defRPr>
                      </a:pPr>
                      <a:r>
                        <a:t>0.05 to 0.20</a:t>
                      </a:r>
                    </a:p>
                  </a:txBody>
                  <a:tcPr marL="64008" marR="64008" marT="27432" marB="27432">
                    <a:solidFill>
                      <a:srgbClr val="FFFFFF"/>
                    </a:solidFill>
                  </a:tcPr>
                </a:tc>
                <a:tc>
                  <a:txBody>
                    <a:bodyPr/>
                    <a:lstStyle/>
                    <a:p>
                      <a:pPr>
                        <a:defRPr sz="1300" b="0">
                          <a:solidFill>
                            <a:srgbClr val="18181B"/>
                          </a:solidFill>
                          <a:latin typeface="Helvetica Neue"/>
                        </a:defRPr>
                      </a:pPr>
                      <a:r>
                        <a:t>0.03 to 0.30</a:t>
                      </a:r>
                    </a:p>
                  </a:txBody>
                  <a:tcPr marL="64008" marR="64008" marT="27432" marB="27432">
                    <a:solidFill>
                      <a:srgbClr val="FFFFFF"/>
                    </a:solidFill>
                  </a:tcPr>
                </a:tc>
              </a:tr>
              <a:tr h="310896">
                <a:tc>
                  <a:txBody>
                    <a:bodyPr/>
                    <a:lstStyle/>
                    <a:p>
                      <a:pPr>
                        <a:defRPr sz="1300" b="0">
                          <a:solidFill>
                            <a:srgbClr val="18181B"/>
                          </a:solidFill>
                          <a:latin typeface="Helvetica Neue"/>
                        </a:defRPr>
                      </a:pPr>
                      <a:r>
                        <a:t>agreement with the key</a:t>
                      </a:r>
                    </a:p>
                  </a:txBody>
                  <a:tcPr marL="64008" marR="64008" marT="27432" marB="27432">
                    <a:solidFill>
                      <a:srgbClr val="F8FAFC"/>
                    </a:solidFill>
                  </a:tcPr>
                </a:tc>
                <a:tc>
                  <a:txBody>
                    <a:bodyPr/>
                    <a:lstStyle/>
                    <a:p>
                      <a:pPr>
                        <a:defRPr sz="1300" b="0">
                          <a:solidFill>
                            <a:srgbClr val="18181B"/>
                          </a:solidFill>
                          <a:latin typeface="Helvetica Neue"/>
                        </a:defRPr>
                      </a:pPr>
                      <a:r>
                        <a:t>285 of 286</a:t>
                      </a:r>
                    </a:p>
                  </a:txBody>
                  <a:tcPr marL="64008" marR="64008" marT="27432" marB="27432">
                    <a:solidFill>
                      <a:srgbClr val="F8FAFC"/>
                    </a:solidFill>
                  </a:tcPr>
                </a:tc>
                <a:tc>
                  <a:txBody>
                    <a:bodyPr/>
                    <a:lstStyle/>
                    <a:p>
                      <a:pPr>
                        <a:defRPr sz="1300" b="0">
                          <a:solidFill>
                            <a:srgbClr val="18181B"/>
                          </a:solidFill>
                          <a:latin typeface="Helvetica Neue"/>
                        </a:defRPr>
                      </a:pPr>
                      <a:r>
                        <a:t>286 of 286</a:t>
                      </a:r>
                    </a:p>
                  </a:txBody>
                  <a:tcPr marL="64008" marR="64008" marT="27432" marB="27432">
                    <a:solidFill>
                      <a:srgbClr val="F8FAFC"/>
                    </a:solidFill>
                  </a:tcPr>
                </a:tc>
              </a:tr>
            </a:tbl>
          </a:graphicData>
        </a:graphic>
      </p:graphicFrame>
      <p:sp>
        <p:nvSpPr>
          <p:cNvPr id="9" name="TextBox 8"/>
          <p:cNvSpPr txBox="1"/>
          <p:nvPr/>
        </p:nvSpPr>
        <p:spPr>
          <a:xfrm>
            <a:off x="5760720" y="4251960"/>
            <a:ext cx="5852160" cy="1828800"/>
          </a:xfrm>
          <a:prstGeom prst="rect">
            <a:avLst/>
          </a:prstGeom>
          <a:noFill/>
        </p:spPr>
        <p:txBody>
          <a:bodyPr wrap="square">
            <a:spAutoFit/>
          </a:bodyPr>
          <a:lstStyle/>
          <a:p>
            <a:pPr>
              <a:spcAft>
                <a:spcPts val="800"/>
              </a:spcAft>
              <a:defRPr sz="1500" b="0">
                <a:solidFill>
                  <a:srgbClr val="71717A"/>
                </a:solidFill>
                <a:latin typeface="Helvetica Neue"/>
              </a:defRPr>
            </a:pPr>
            <a:r>
              <a:t>The stricter one is not simply better. It gets the faded X right by refusing to overrule ink, and the same rule would let a struck-out box report as filled. Which error you prefer is a business question.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75488"/>
          </a:xfrm>
          <a:prstGeom prst="rect">
            <a:avLst/>
          </a:prstGeom>
          <a:solidFill>
            <a:srgbClr val="3730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
            <a:ext cx="12191695" cy="28575"/>
          </a:xfrm>
          <a:prstGeom prst="rect">
            <a:avLst/>
          </a:prstGeom>
          <a:solidFill>
            <a:srgbClr val="586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00584"/>
            <a:ext cx="11057839" cy="329184"/>
          </a:xfrm>
          <a:prstGeom prst="rect">
            <a:avLst/>
          </a:prstGeom>
          <a:noFill/>
        </p:spPr>
        <p:txBody>
          <a:bodyPr wrap="square">
            <a:spAutoFit/>
          </a:bodyPr>
          <a:lstStyle/>
          <a:p>
            <a:pPr>
              <a:spcAft>
                <a:spcPts val="800"/>
              </a:spcAft>
              <a:defRPr sz="1100" b="0">
                <a:solidFill>
                  <a:srgbClr val="C7D2FE"/>
                </a:solidFill>
                <a:latin typeface="Helvetica Neue"/>
              </a:defRPr>
            </a:pPr>
            <a:r>
              <a:t>FOUR DIMENSIONS</a:t>
            </a:r>
          </a:p>
        </p:txBody>
      </p:sp>
      <p:sp>
        <p:nvSpPr>
          <p:cNvPr id="5" name="TextBox 4"/>
          <p:cNvSpPr txBox="1"/>
          <p:nvPr/>
        </p:nvSpPr>
        <p:spPr>
          <a:xfrm>
            <a:off x="566928" y="731520"/>
            <a:ext cx="11057839" cy="731520"/>
          </a:xfrm>
          <a:prstGeom prst="rect">
            <a:avLst/>
          </a:prstGeom>
          <a:noFill/>
        </p:spPr>
        <p:txBody>
          <a:bodyPr wrap="square">
            <a:spAutoFit/>
          </a:bodyPr>
          <a:lstStyle/>
          <a:p>
            <a:pPr>
              <a:spcAft>
                <a:spcPts val="800"/>
              </a:spcAft>
              <a:defRPr sz="3000" b="1">
                <a:solidFill>
                  <a:srgbClr val="18181B"/>
                </a:solidFill>
                <a:latin typeface="Helvetica Neue"/>
              </a:defRPr>
            </a:pPr>
            <a:r>
              <a:t>2. Cost, by using the right size of tool</a:t>
            </a:r>
          </a:p>
        </p:txBody>
      </p:sp>
      <p:sp>
        <p:nvSpPr>
          <p:cNvPr id="6" name="TextBox 5"/>
          <p:cNvSpPr txBox="1"/>
          <p:nvPr/>
        </p:nvSpPr>
        <p:spPr>
          <a:xfrm>
            <a:off x="566928" y="1389888"/>
            <a:ext cx="11057839" cy="502920"/>
          </a:xfrm>
          <a:prstGeom prst="rect">
            <a:avLst/>
          </a:prstGeom>
          <a:noFill/>
        </p:spPr>
        <p:txBody>
          <a:bodyPr wrap="square">
            <a:spAutoFit/>
          </a:bodyPr>
          <a:lstStyle/>
          <a:p>
            <a:pPr>
              <a:spcAft>
                <a:spcPts val="800"/>
              </a:spcAft>
              <a:defRPr sz="1600" b="0">
                <a:solidFill>
                  <a:srgbClr val="71717A"/>
                </a:solidFill>
                <a:latin typeface="Helvetica Neue"/>
              </a:defRPr>
            </a:pPr>
            <a:r>
              <a:t>Not the smallest tool. The right one.</a:t>
            </a:r>
          </a:p>
        </p:txBody>
      </p:sp>
      <p:graphicFrame>
        <p:nvGraphicFramePr>
          <p:cNvPr id="7" name="Table 6"/>
          <p:cNvGraphicFramePr>
            <a:graphicFrameLocks noGrp="1"/>
          </p:cNvGraphicFramePr>
          <p:nvPr/>
        </p:nvGraphicFramePr>
        <p:xfrm>
          <a:off x="566928" y="2286000"/>
          <a:ext cx="11057838" cy="1554480"/>
        </p:xfrm>
        <a:graphic>
          <a:graphicData uri="http://schemas.openxmlformats.org/drawingml/2006/table">
            <a:tbl>
              <a:tblPr firstRow="1" bandRow="1">
                <a:tableStyleId>{5C22544A-7EE6-4342-B048-85BDC9FD1C3A}</a:tableStyleId>
              </a:tblPr>
              <a:tblGrid>
                <a:gridCol w="4878458"/>
                <a:gridCol w="1951383"/>
                <a:gridCol w="4227997"/>
              </a:tblGrid>
              <a:tr h="310896">
                <a:tc>
                  <a:txBody>
                    <a:bodyPr/>
                    <a:lstStyle/>
                    <a:p>
                      <a:pPr>
                        <a:defRPr sz="1500" b="1">
                          <a:solidFill>
                            <a:srgbClr val="FFFFFF"/>
                          </a:solidFill>
                          <a:latin typeface="Helvetica Neue"/>
                        </a:defRPr>
                      </a:pPr>
                      <a:r>
                        <a:t>approach</a:t>
                      </a:r>
                    </a:p>
                  </a:txBody>
                  <a:tcPr marL="64008" marR="64008" marT="27432" marB="27432">
                    <a:solidFill>
                      <a:srgbClr val="3730A3"/>
                    </a:solidFill>
                  </a:tcPr>
                </a:tc>
                <a:tc>
                  <a:txBody>
                    <a:bodyPr/>
                    <a:lstStyle/>
                    <a:p>
                      <a:pPr>
                        <a:defRPr sz="1500" b="1">
                          <a:solidFill>
                            <a:srgbClr val="FFFFFF"/>
                          </a:solidFill>
                          <a:latin typeface="Helvetica Neue"/>
                        </a:defRPr>
                      </a:pPr>
                      <a:r>
                        <a:t>cost per page</a:t>
                      </a:r>
                    </a:p>
                  </a:txBody>
                  <a:tcPr marL="64008" marR="64008" marT="27432" marB="27432">
                    <a:solidFill>
                      <a:srgbClr val="3730A3"/>
                    </a:solidFill>
                  </a:tcPr>
                </a:tc>
                <a:tc>
                  <a:txBody>
                    <a:bodyPr/>
                    <a:lstStyle/>
                    <a:p>
                      <a:pPr>
                        <a:defRPr sz="1500" b="1">
                          <a:solidFill>
                            <a:srgbClr val="FFFFFF"/>
                          </a:solidFill>
                          <a:latin typeface="Helvetica Neue"/>
                        </a:defRPr>
                      </a:pPr>
                      <a:r>
                        <a:t>note</a:t>
                      </a:r>
                    </a:p>
                  </a:txBody>
                  <a:tcPr marL="64008" marR="64008" marT="27432" marB="27432">
                    <a:solidFill>
                      <a:srgbClr val="3730A3"/>
                    </a:solidFill>
                  </a:tcPr>
                </a:tc>
              </a:tr>
              <a:tr h="310896">
                <a:tc>
                  <a:txBody>
                    <a:bodyPr/>
                    <a:lstStyle/>
                    <a:p>
                      <a:pPr>
                        <a:defRPr sz="1500" b="0">
                          <a:solidFill>
                            <a:srgbClr val="18181B"/>
                          </a:solidFill>
                          <a:latin typeface="Helvetica Neue"/>
                        </a:defRPr>
                      </a:pPr>
                      <a:r>
                        <a:t>ordinary image processing (what runs)</a:t>
                      </a:r>
                    </a:p>
                  </a:txBody>
                  <a:tcPr marL="64008" marR="64008" marT="27432" marB="27432">
                    <a:solidFill>
                      <a:srgbClr val="FFFFFF"/>
                    </a:solidFill>
                  </a:tcPr>
                </a:tc>
                <a:tc>
                  <a:txBody>
                    <a:bodyPr/>
                    <a:lstStyle/>
                    <a:p>
                      <a:pPr>
                        <a:defRPr sz="1500" b="0">
                          <a:solidFill>
                            <a:srgbClr val="18181B"/>
                          </a:solidFill>
                          <a:latin typeface="Helvetica Neue"/>
                        </a:defRPr>
                      </a:pPr>
                      <a:r>
                        <a:t>$0.000004</a:t>
                      </a:r>
                    </a:p>
                  </a:txBody>
                  <a:tcPr marL="64008" marR="64008" marT="27432" marB="27432">
                    <a:solidFill>
                      <a:srgbClr val="FFFFFF"/>
                    </a:solidFill>
                  </a:tcPr>
                </a:tc>
                <a:tc>
                  <a:txBody>
                    <a:bodyPr/>
                    <a:lstStyle/>
                    <a:p>
                      <a:pPr>
                        <a:defRPr sz="1500" b="0">
                          <a:solidFill>
                            <a:srgbClr val="18181B"/>
                          </a:solidFill>
                          <a:latin typeface="Helvetica Neue"/>
                        </a:defRPr>
                      </a:pPr>
                      <a:r>
                        <a:t>0.30 s of one CPU core, no model</a:t>
                      </a:r>
                    </a:p>
                  </a:txBody>
                  <a:tcPr marL="64008" marR="64008" marT="27432" marB="27432">
                    <a:solidFill>
                      <a:srgbClr val="FFFFFF"/>
                    </a:solidFill>
                  </a:tcPr>
                </a:tc>
              </a:tr>
              <a:tr h="310896">
                <a:tc>
                  <a:txBody>
                    <a:bodyPr/>
                    <a:lstStyle/>
                    <a:p>
                      <a:pPr>
                        <a:defRPr sz="1500" b="0">
                          <a:solidFill>
                            <a:srgbClr val="18181B"/>
                          </a:solidFill>
                          <a:latin typeface="Helvetica Neue"/>
                        </a:defRPr>
                      </a:pPr>
                      <a:r>
                        <a:t>AI on boxes the core flags</a:t>
                      </a:r>
                    </a:p>
                  </a:txBody>
                  <a:tcPr marL="64008" marR="64008" marT="27432" marB="27432">
                    <a:solidFill>
                      <a:srgbClr val="F8FAFC"/>
                    </a:solidFill>
                  </a:tcPr>
                </a:tc>
                <a:tc>
                  <a:txBody>
                    <a:bodyPr/>
                    <a:lstStyle/>
                    <a:p>
                      <a:pPr>
                        <a:defRPr sz="1500" b="0">
                          <a:solidFill>
                            <a:srgbClr val="18181B"/>
                          </a:solidFill>
                          <a:latin typeface="Helvetica Neue"/>
                        </a:defRPr>
                      </a:pPr>
                      <a:r>
                        <a:t>$0.001</a:t>
                      </a:r>
                    </a:p>
                  </a:txBody>
                  <a:tcPr marL="64008" marR="64008" marT="27432" marB="27432">
                    <a:solidFill>
                      <a:srgbClr val="F8FAFC"/>
                    </a:solidFill>
                  </a:tcPr>
                </a:tc>
                <a:tc>
                  <a:txBody>
                    <a:bodyPr/>
                    <a:lstStyle/>
                    <a:p>
                      <a:pPr>
                        <a:defRPr sz="1500" b="0">
                          <a:solidFill>
                            <a:srgbClr val="18181B"/>
                          </a:solidFill>
                          <a:latin typeface="Helvetica Neue"/>
                        </a:defRPr>
                      </a:pPr>
                      <a:r>
                        <a:t>at the measured 0.7% flag rate</a:t>
                      </a:r>
                    </a:p>
                  </a:txBody>
                  <a:tcPr marL="64008" marR="64008" marT="27432" marB="27432">
                    <a:solidFill>
                      <a:srgbClr val="F8FAFC"/>
                    </a:solidFill>
                  </a:tcPr>
                </a:tc>
              </a:tr>
              <a:tr h="310896">
                <a:tc>
                  <a:txBody>
                    <a:bodyPr/>
                    <a:lstStyle/>
                    <a:p>
                      <a:pPr>
                        <a:defRPr sz="1500" b="0">
                          <a:solidFill>
                            <a:srgbClr val="18181B"/>
                          </a:solidFill>
                          <a:latin typeface="Helvetica Neue"/>
                        </a:defRPr>
                      </a:pPr>
                      <a:r>
                        <a:t>AI on those plus every model dispute</a:t>
                      </a:r>
                    </a:p>
                  </a:txBody>
                  <a:tcPr marL="64008" marR="64008" marT="27432" marB="27432">
                    <a:solidFill>
                      <a:srgbClr val="FFFFFF"/>
                    </a:solidFill>
                  </a:tcPr>
                </a:tc>
                <a:tc>
                  <a:txBody>
                    <a:bodyPr/>
                    <a:lstStyle/>
                    <a:p>
                      <a:pPr>
                        <a:defRPr sz="1500" b="0">
                          <a:solidFill>
                            <a:srgbClr val="18181B"/>
                          </a:solidFill>
                          <a:latin typeface="Helvetica Neue"/>
                        </a:defRPr>
                      </a:pPr>
                      <a:r>
                        <a:t>$0.009</a:t>
                      </a:r>
                    </a:p>
                  </a:txBody>
                  <a:tcPr marL="64008" marR="64008" marT="27432" marB="27432">
                    <a:solidFill>
                      <a:srgbClr val="FFFFFF"/>
                    </a:solidFill>
                  </a:tcPr>
                </a:tc>
                <a:tc>
                  <a:txBody>
                    <a:bodyPr/>
                    <a:lstStyle/>
                    <a:p>
                      <a:pPr>
                        <a:defRPr sz="1500" b="0">
                          <a:solidFill>
                            <a:srgbClr val="18181B"/>
                          </a:solidFill>
                          <a:latin typeface="Helvetica Neue"/>
                        </a:defRPr>
                      </a:pPr>
                      <a:r>
                        <a:t>at the measured 6.6% flag rate</a:t>
                      </a:r>
                    </a:p>
                  </a:txBody>
                  <a:tcPr marL="64008" marR="64008" marT="27432" marB="27432">
                    <a:solidFill>
                      <a:srgbClr val="FFFFFF"/>
                    </a:solidFill>
                  </a:tcPr>
                </a:tc>
              </a:tr>
              <a:tr h="310896">
                <a:tc>
                  <a:txBody>
                    <a:bodyPr/>
                    <a:lstStyle/>
                    <a:p>
                      <a:pPr>
                        <a:defRPr sz="1500" b="0">
                          <a:solidFill>
                            <a:srgbClr val="18181B"/>
                          </a:solidFill>
                          <a:latin typeface="Helvetica Neue"/>
                        </a:defRPr>
                      </a:pPr>
                      <a:r>
                        <a:t>every page to a frontier model</a:t>
                      </a:r>
                    </a:p>
                  </a:txBody>
                  <a:tcPr marL="64008" marR="64008" marT="27432" marB="27432">
                    <a:solidFill>
                      <a:srgbClr val="F8FAFC"/>
                    </a:solidFill>
                  </a:tcPr>
                </a:tc>
                <a:tc>
                  <a:txBody>
                    <a:bodyPr/>
                    <a:lstStyle/>
                    <a:p>
                      <a:pPr>
                        <a:defRPr sz="1500" b="0">
                          <a:solidFill>
                            <a:srgbClr val="18181B"/>
                          </a:solidFill>
                          <a:latin typeface="Helvetica Neue"/>
                        </a:defRPr>
                      </a:pPr>
                      <a:r>
                        <a:t>$0.085</a:t>
                      </a:r>
                    </a:p>
                  </a:txBody>
                  <a:tcPr marL="64008" marR="64008" marT="27432" marB="27432">
                    <a:solidFill>
                      <a:srgbClr val="F8FAFC"/>
                    </a:solidFill>
                  </a:tcPr>
                </a:tc>
                <a:tc>
                  <a:txBody>
                    <a:bodyPr/>
                    <a:lstStyle/>
                    <a:p>
                      <a:pPr>
                        <a:defRPr sz="1500" b="0">
                          <a:solidFill>
                            <a:srgbClr val="18181B"/>
                          </a:solidFill>
                          <a:latin typeface="Helvetica Neue"/>
                        </a:defRPr>
                      </a:pPr>
                      <a:r>
                        <a:t>about 40x more, and weaker on checkboxes</a:t>
                      </a:r>
                    </a:p>
                  </a:txBody>
                  <a:tcPr marL="64008" marR="64008" marT="27432" marB="27432">
                    <a:solidFill>
                      <a:srgbClr val="F8FAFC"/>
                    </a:solidFill>
                  </a:tcPr>
                </a:tc>
              </a:tr>
            </a:tbl>
          </a:graphicData>
        </a:graphic>
      </p:graphicFrame>
      <p:sp>
        <p:nvSpPr>
          <p:cNvPr id="8" name="TextBox 7"/>
          <p:cNvSpPr txBox="1"/>
          <p:nvPr/>
        </p:nvSpPr>
        <p:spPr>
          <a:xfrm>
            <a:off x="566928" y="4389120"/>
            <a:ext cx="11057839" cy="2011680"/>
          </a:xfrm>
          <a:prstGeom prst="rect">
            <a:avLst/>
          </a:prstGeom>
          <a:noFill/>
        </p:spPr>
        <p:txBody>
          <a:bodyPr wrap="square">
            <a:spAutoFit/>
          </a:bodyPr>
          <a:lstStyle/>
          <a:p>
            <a:pPr>
              <a:spcAft>
                <a:spcPts val="800"/>
              </a:spcAft>
              <a:defRPr sz="1700" b="0">
                <a:solidFill>
                  <a:srgbClr val="18181B"/>
                </a:solidFill>
                <a:latin typeface="Helvetica Neue"/>
              </a:defRPr>
            </a:pPr>
            <a:r>
              <a:t>The biggest AI models are trained to solve an enormous range of problems, and a loan file pays for none of them.</a:t>
            </a:r>
          </a:p>
          <a:p>
            <a:pPr>
              <a:spcAft>
                <a:spcPts val="800"/>
              </a:spcAft>
              <a:defRPr sz="1700" b="0">
                <a:solidFill>
                  <a:srgbClr val="18181B"/>
                </a:solidFill>
                <a:latin typeface="Helvetica Neue"/>
              </a:defRPr>
            </a:pPr>
            <a:r>
              <a:t>A cropped checkbox is about 106 tokens of image. A whole page is about 1,990, and the answer runs to thousands more because it has to list every box and its coordinates.</a:t>
            </a:r>
          </a:p>
          <a:p>
            <a:pPr>
              <a:spcAft>
                <a:spcPts val="800"/>
              </a:spcAft>
              <a:defRPr sz="1700" b="0">
                <a:solidFill>
                  <a:srgbClr val="18181B"/>
                </a:solidFill>
                <a:latin typeface="Helvetica Neue"/>
              </a:defRPr>
            </a:pPr>
            <a:r>
              <a:t>We do not pay for intelligence we do not use.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75488"/>
          </a:xfrm>
          <a:prstGeom prst="rect">
            <a:avLst/>
          </a:prstGeom>
          <a:solidFill>
            <a:srgbClr val="3730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
            <a:ext cx="12191695" cy="28575"/>
          </a:xfrm>
          <a:prstGeom prst="rect">
            <a:avLst/>
          </a:prstGeom>
          <a:solidFill>
            <a:srgbClr val="586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00584"/>
            <a:ext cx="11057839" cy="329184"/>
          </a:xfrm>
          <a:prstGeom prst="rect">
            <a:avLst/>
          </a:prstGeom>
          <a:noFill/>
        </p:spPr>
        <p:txBody>
          <a:bodyPr wrap="square">
            <a:spAutoFit/>
          </a:bodyPr>
          <a:lstStyle/>
          <a:p>
            <a:pPr>
              <a:spcAft>
                <a:spcPts val="800"/>
              </a:spcAft>
              <a:defRPr sz="1100" b="0">
                <a:solidFill>
                  <a:srgbClr val="C7D2FE"/>
                </a:solidFill>
                <a:latin typeface="Helvetica Neue"/>
              </a:defRPr>
            </a:pPr>
            <a:r>
              <a:t>FOUR DIMENSIONS</a:t>
            </a:r>
          </a:p>
        </p:txBody>
      </p:sp>
      <p:sp>
        <p:nvSpPr>
          <p:cNvPr id="5" name="TextBox 4"/>
          <p:cNvSpPr txBox="1"/>
          <p:nvPr/>
        </p:nvSpPr>
        <p:spPr>
          <a:xfrm>
            <a:off x="566928" y="731520"/>
            <a:ext cx="11057839" cy="731520"/>
          </a:xfrm>
          <a:prstGeom prst="rect">
            <a:avLst/>
          </a:prstGeom>
          <a:noFill/>
        </p:spPr>
        <p:txBody>
          <a:bodyPr wrap="square">
            <a:spAutoFit/>
          </a:bodyPr>
          <a:lstStyle/>
          <a:p>
            <a:pPr>
              <a:spcAft>
                <a:spcPts val="800"/>
              </a:spcAft>
              <a:defRPr sz="3000" b="1">
                <a:solidFill>
                  <a:srgbClr val="18181B"/>
                </a:solidFill>
                <a:latin typeface="Helvetica Neue"/>
              </a:defRPr>
            </a:pPr>
            <a:r>
              <a:t>3. Latency, and there are two kinds</a:t>
            </a:r>
          </a:p>
        </p:txBody>
      </p:sp>
      <p:sp>
        <p:nvSpPr>
          <p:cNvPr id="6" name="TextBox 5"/>
          <p:cNvSpPr txBox="1"/>
          <p:nvPr/>
        </p:nvSpPr>
        <p:spPr>
          <a:xfrm>
            <a:off x="566928" y="1783080"/>
            <a:ext cx="5577840" cy="4023360"/>
          </a:xfrm>
          <a:prstGeom prst="rect">
            <a:avLst/>
          </a:prstGeom>
          <a:noFill/>
        </p:spPr>
        <p:txBody>
          <a:bodyPr wrap="square">
            <a:spAutoFit/>
          </a:bodyPr>
          <a:lstStyle/>
          <a:p>
            <a:pPr>
              <a:spcAft>
                <a:spcPts val="800"/>
              </a:spcAft>
              <a:defRPr sz="1700" b="1">
                <a:solidFill>
                  <a:srgbClr val="18181B"/>
                </a:solidFill>
                <a:latin typeface="Helvetica Neue"/>
              </a:defRPr>
            </a:pPr>
            <a:r>
              <a:t>The kind the page waits for</a:t>
            </a:r>
          </a:p>
          <a:p>
            <a:pPr>
              <a:spcAft>
                <a:spcPts val="800"/>
              </a:spcAft>
              <a:defRPr sz="1700" b="0">
                <a:solidFill>
                  <a:srgbClr val="18181B"/>
                </a:solidFill>
                <a:latin typeface="Helvetica Neue"/>
              </a:defRPr>
            </a:pPr>
            <a:r>
              <a:t>About a third of a second a page, and under half a second for 95 pages in every 100, measured over 61 pages. No network call in the path at all. Nothing waits on a vendor.</a:t>
            </a:r>
          </a:p>
          <a:p>
            <a:pPr>
              <a:spcAft>
                <a:spcPts val="800"/>
              </a:spcAft>
              <a:defRPr sz="1700" b="0">
                <a:solidFill>
                  <a:srgbClr val="18181B"/>
                </a:solidFill>
                <a:latin typeface="Helvetica Neue"/>
              </a:defRPr>
            </a:pPr>
          </a:p>
          <a:p>
            <a:pPr>
              <a:spcAft>
                <a:spcPts val="800"/>
              </a:spcAft>
              <a:defRPr sz="1700" b="0">
                <a:solidFill>
                  <a:srgbClr val="18181B"/>
                </a:solidFill>
                <a:latin typeface="Helvetica Neue"/>
              </a:defRPr>
            </a:pPr>
            <a:r>
              <a:t>It also improves on its own, which a model-first design does not. Every behaviour we understand well enough to describe becomes a rule, and a rule costs microseconds. The queue is meant to shrink.</a:t>
            </a:r>
          </a:p>
        </p:txBody>
      </p:sp>
      <p:sp>
        <p:nvSpPr>
          <p:cNvPr id="7" name="TextBox 6"/>
          <p:cNvSpPr txBox="1"/>
          <p:nvPr/>
        </p:nvSpPr>
        <p:spPr>
          <a:xfrm>
            <a:off x="6400800" y="1783080"/>
            <a:ext cx="5212080" cy="4023360"/>
          </a:xfrm>
          <a:prstGeom prst="rect">
            <a:avLst/>
          </a:prstGeom>
          <a:noFill/>
        </p:spPr>
        <p:txBody>
          <a:bodyPr wrap="square">
            <a:spAutoFit/>
          </a:bodyPr>
          <a:lstStyle/>
          <a:p>
            <a:pPr>
              <a:spcAft>
                <a:spcPts val="800"/>
              </a:spcAft>
              <a:defRPr sz="1700" b="1">
                <a:solidFill>
                  <a:srgbClr val="18181B"/>
                </a:solidFill>
                <a:latin typeface="Helvetica Neue"/>
              </a:defRPr>
            </a:pPr>
            <a:r>
              <a:t>The kind an operator waits for</a:t>
            </a:r>
          </a:p>
          <a:p>
            <a:pPr>
              <a:spcAft>
                <a:spcPts val="800"/>
              </a:spcAft>
              <a:defRPr sz="1700" b="0">
                <a:solidFill>
                  <a:srgbClr val="18181B"/>
                </a:solidFill>
                <a:latin typeface="Helvetica Neue"/>
              </a:defRPr>
            </a:pPr>
            <a:r>
              <a:t>Somebody has to know where the system is struggling without reading pages to find out.</a:t>
            </a:r>
          </a:p>
          <a:p>
            <a:pPr>
              <a:spcAft>
                <a:spcPts val="800"/>
              </a:spcAft>
              <a:defRPr sz="1700" b="0">
                <a:solidFill>
                  <a:srgbClr val="18181B"/>
                </a:solidFill>
                <a:latin typeface="Helvetica Neue"/>
              </a:defRPr>
            </a:pPr>
          </a:p>
          <a:p>
            <a:pPr>
              <a:spcAft>
                <a:spcPts val="800"/>
              </a:spcAft>
              <a:defRPr sz="1700" b="0">
                <a:solidFill>
                  <a:srgbClr val="18181B"/>
                </a:solidFill>
                <a:latin typeface="Helvetica Neue"/>
              </a:defRPr>
            </a:pPr>
            <a:r>
              <a:t>That is why the reason codes are data rather than log lines, and why there is a dashboard. A flag rate is a budget line. A breakdown is something you can act 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75488"/>
          </a:xfrm>
          <a:prstGeom prst="rect">
            <a:avLst/>
          </a:prstGeom>
          <a:solidFill>
            <a:srgbClr val="3730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
            <a:ext cx="12191695" cy="28575"/>
          </a:xfrm>
          <a:prstGeom prst="rect">
            <a:avLst/>
          </a:prstGeom>
          <a:solidFill>
            <a:srgbClr val="586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00584"/>
            <a:ext cx="11057839" cy="329184"/>
          </a:xfrm>
          <a:prstGeom prst="rect">
            <a:avLst/>
          </a:prstGeom>
          <a:noFill/>
        </p:spPr>
        <p:txBody>
          <a:bodyPr wrap="square">
            <a:spAutoFit/>
          </a:bodyPr>
          <a:lstStyle/>
          <a:p>
            <a:pPr>
              <a:spcAft>
                <a:spcPts val="800"/>
              </a:spcAft>
              <a:defRPr sz="1100" b="0">
                <a:solidFill>
                  <a:srgbClr val="C7D2FE"/>
                </a:solidFill>
                <a:latin typeface="Helvetica Neue"/>
              </a:defRPr>
            </a:pPr>
            <a:r>
              <a:t>FOUR DIMENSIONS</a:t>
            </a:r>
          </a:p>
        </p:txBody>
      </p:sp>
      <p:sp>
        <p:nvSpPr>
          <p:cNvPr id="5" name="TextBox 4"/>
          <p:cNvSpPr txBox="1"/>
          <p:nvPr/>
        </p:nvSpPr>
        <p:spPr>
          <a:xfrm>
            <a:off x="566928" y="731520"/>
            <a:ext cx="11057839" cy="731520"/>
          </a:xfrm>
          <a:prstGeom prst="rect">
            <a:avLst/>
          </a:prstGeom>
          <a:noFill/>
        </p:spPr>
        <p:txBody>
          <a:bodyPr wrap="square">
            <a:spAutoFit/>
          </a:bodyPr>
          <a:lstStyle/>
          <a:p>
            <a:pPr>
              <a:spcAft>
                <a:spcPts val="800"/>
              </a:spcAft>
              <a:defRPr sz="3000" b="1">
                <a:solidFill>
                  <a:srgbClr val="18181B"/>
                </a:solidFill>
                <a:latin typeface="Helvetica Neue"/>
              </a:defRPr>
            </a:pPr>
            <a:r>
              <a:t>4. Governance, and how little model you use</a:t>
            </a:r>
          </a:p>
        </p:txBody>
      </p:sp>
      <p:sp>
        <p:nvSpPr>
          <p:cNvPr id="6" name="TextBox 5"/>
          <p:cNvSpPr txBox="1"/>
          <p:nvPr/>
        </p:nvSpPr>
        <p:spPr>
          <a:xfrm>
            <a:off x="566928" y="1783080"/>
            <a:ext cx="5577840" cy="4023360"/>
          </a:xfrm>
          <a:prstGeom prst="rect">
            <a:avLst/>
          </a:prstGeom>
          <a:noFill/>
        </p:spPr>
        <p:txBody>
          <a:bodyPr wrap="square">
            <a:spAutoFit/>
          </a:bodyPr>
          <a:lstStyle/>
          <a:p>
            <a:pPr>
              <a:spcAft>
                <a:spcPts val="800"/>
              </a:spcAft>
              <a:defRPr sz="1700" b="1">
                <a:solidFill>
                  <a:srgbClr val="18181B"/>
                </a:solidFill>
                <a:latin typeface="Helvetica Neue"/>
              </a:defRPr>
            </a:pPr>
            <a:r>
              <a:t>Every model call is customer documents leaving the building.</a:t>
            </a:r>
          </a:p>
          <a:p>
            <a:pPr>
              <a:spcAft>
                <a:spcPts val="800"/>
              </a:spcAft>
              <a:defRPr sz="1700" b="0">
                <a:solidFill>
                  <a:srgbClr val="18181B"/>
                </a:solidFill>
                <a:latin typeface="Helvetica Neue"/>
              </a:defRPr>
            </a:pPr>
            <a:r>
              <a:t>Plain rules are not. They run on a machine you control, in your own building if the contract says so, with no vendor to ask about retention or training.</a:t>
            </a:r>
          </a:p>
          <a:p>
            <a:pPr>
              <a:spcAft>
                <a:spcPts val="800"/>
              </a:spcAft>
              <a:defRPr sz="1700" b="0">
                <a:solidFill>
                  <a:srgbClr val="18181B"/>
                </a:solidFill>
                <a:latin typeface="Helvetica Neue"/>
              </a:defRPr>
            </a:pPr>
          </a:p>
          <a:p>
            <a:pPr>
              <a:spcAft>
                <a:spcPts val="800"/>
              </a:spcAft>
              <a:defRPr sz="1700" b="0">
                <a:solidFill>
                  <a:srgbClr val="18181B"/>
                </a:solidFill>
                <a:latin typeface="Helvetica Neue"/>
              </a:defRPr>
            </a:pPr>
            <a:r>
              <a:t>By default this sends nothing anywhere.</a:t>
            </a:r>
          </a:p>
          <a:p>
            <a:pPr>
              <a:spcAft>
                <a:spcPts val="800"/>
              </a:spcAft>
              <a:defRPr sz="1700" b="0">
                <a:solidFill>
                  <a:srgbClr val="18181B"/>
                </a:solidFill>
                <a:latin typeface="Helvetica Neue"/>
              </a:defRPr>
            </a:pPr>
            <a:r>
              <a:t>When the AI check is on, it sends a thumbnail of one box, never a page of somebody's finances.</a:t>
            </a:r>
          </a:p>
        </p:txBody>
      </p:sp>
      <p:sp>
        <p:nvSpPr>
          <p:cNvPr id="7" name="Rounded Rectangle 6"/>
          <p:cNvSpPr/>
          <p:nvPr/>
        </p:nvSpPr>
        <p:spPr>
          <a:xfrm>
            <a:off x="6400800" y="1828800"/>
            <a:ext cx="5212080" cy="1143000"/>
          </a:xfrm>
          <a:prstGeom prst="roundRect">
            <a:avLst/>
          </a:prstGeom>
          <a:solidFill>
            <a:srgbClr val="EEF2FF"/>
          </a:solidFill>
          <a:ln w="1397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defRPr sz="1500" b="1">
                <a:solidFill>
                  <a:srgbClr val="18181B"/>
                </a:solidFill>
                <a:latin typeface="Helvetica Neue"/>
              </a:defRPr>
            </a:pPr>
            <a:r>
              <a:t>Hard gates</a:t>
            </a:r>
          </a:p>
          <a:p>
            <a:pPr algn="ctr">
              <a:defRPr sz="1300" b="0">
                <a:solidFill>
                  <a:srgbClr val="18181B"/>
                </a:solidFill>
                <a:latin typeface="Helvetica Neue"/>
              </a:defRPr>
            </a:pPr>
            <a:r>
              <a:t>the answer format, the blank forms, the known hard cases, the frozen answer key</a:t>
            </a:r>
          </a:p>
        </p:txBody>
      </p:sp>
      <p:sp>
        <p:nvSpPr>
          <p:cNvPr id="8" name="Rounded Rectangle 7"/>
          <p:cNvSpPr/>
          <p:nvPr/>
        </p:nvSpPr>
        <p:spPr>
          <a:xfrm>
            <a:off x="6400800" y="3200400"/>
            <a:ext cx="5212080" cy="1143000"/>
          </a:xfrm>
          <a:prstGeom prst="roundRect">
            <a:avLst/>
          </a:prstGeom>
          <a:solidFill>
            <a:srgbClr val="FFF4E0"/>
          </a:solidFill>
          <a:ln w="13970">
            <a:solidFill>
              <a:srgbClr val="D97A1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defRPr sz="1500" b="1">
                <a:solidFill>
                  <a:srgbClr val="18181B"/>
                </a:solidFill>
                <a:latin typeface="Helvetica Neue"/>
              </a:defRPr>
            </a:pPr>
            <a:r>
              <a:t>Soft gates</a:t>
            </a:r>
          </a:p>
          <a:p>
            <a:pPr algn="ctr">
              <a:defRPr sz="1300" b="0">
                <a:solidFill>
                  <a:srgbClr val="18181B"/>
                </a:solidFill>
                <a:latin typeface="Helvetica Neue"/>
              </a:defRPr>
            </a:pPr>
            <a:r>
              <a:t>a number with an allowed range and a verdict; one sits outside its range today and says so</a:t>
            </a:r>
          </a:p>
        </p:txBody>
      </p:sp>
      <p:sp>
        <p:nvSpPr>
          <p:cNvPr id="9" name="Rounded Rectangle 8"/>
          <p:cNvSpPr/>
          <p:nvPr/>
        </p:nvSpPr>
        <p:spPr>
          <a:xfrm>
            <a:off x="6400800" y="4572000"/>
            <a:ext cx="5212080" cy="960120"/>
          </a:xfrm>
          <a:prstGeom prst="roundRect">
            <a:avLst/>
          </a:prstGeom>
          <a:solidFill>
            <a:srgbClr val="E9F7EC"/>
          </a:solidFill>
          <a:ln w="13970">
            <a:solidFill>
              <a:srgbClr val="3A9D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defRPr sz="1500" b="1">
                <a:solidFill>
                  <a:srgbClr val="18181B"/>
                </a:solidFill>
                <a:latin typeface="Helvetica Neue"/>
              </a:defRPr>
            </a:pPr>
            <a:r>
              <a:t>Humans on the loop</a:t>
            </a:r>
          </a:p>
          <a:p>
            <a:pPr algn="ctr">
              <a:defRPr sz="1300" b="0">
                <a:solidFill>
                  <a:srgbClr val="18181B"/>
                </a:solidFill>
                <a:latin typeface="Helvetica Neue"/>
              </a:defRPr>
            </a:pPr>
            <a:r>
              <a:t>QA and product write the criteria in the same file the customer edits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75488"/>
          </a:xfrm>
          <a:prstGeom prst="rect">
            <a:avLst/>
          </a:prstGeom>
          <a:solidFill>
            <a:srgbClr val="3730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
            <a:ext cx="12191695" cy="28575"/>
          </a:xfrm>
          <a:prstGeom prst="rect">
            <a:avLst/>
          </a:prstGeom>
          <a:solidFill>
            <a:srgbClr val="586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00584"/>
            <a:ext cx="11057839" cy="329184"/>
          </a:xfrm>
          <a:prstGeom prst="rect">
            <a:avLst/>
          </a:prstGeom>
          <a:noFill/>
        </p:spPr>
        <p:txBody>
          <a:bodyPr wrap="square">
            <a:spAutoFit/>
          </a:bodyPr>
          <a:lstStyle/>
          <a:p>
            <a:pPr>
              <a:spcAft>
                <a:spcPts val="800"/>
              </a:spcAft>
              <a:defRPr sz="1100" b="0">
                <a:solidFill>
                  <a:srgbClr val="C7D2FE"/>
                </a:solidFill>
                <a:latin typeface="Helvetica Neue"/>
              </a:defRPr>
            </a:pPr>
            <a:r>
              <a:t>ALTERNATIVES</a:t>
            </a:r>
          </a:p>
        </p:txBody>
      </p:sp>
      <p:sp>
        <p:nvSpPr>
          <p:cNvPr id="5" name="TextBox 4"/>
          <p:cNvSpPr txBox="1"/>
          <p:nvPr/>
        </p:nvSpPr>
        <p:spPr>
          <a:xfrm>
            <a:off x="566928" y="731520"/>
            <a:ext cx="11057839" cy="731520"/>
          </a:xfrm>
          <a:prstGeom prst="rect">
            <a:avLst/>
          </a:prstGeom>
          <a:noFill/>
        </p:spPr>
        <p:txBody>
          <a:bodyPr wrap="square">
            <a:spAutoFit/>
          </a:bodyPr>
          <a:lstStyle/>
          <a:p>
            <a:pPr>
              <a:spcAft>
                <a:spcPts val="800"/>
              </a:spcAft>
              <a:defRPr sz="3000" b="1">
                <a:solidFill>
                  <a:srgbClr val="18181B"/>
                </a:solidFill>
                <a:latin typeface="Helvetica Neue"/>
              </a:defRPr>
            </a:pPr>
            <a:r>
              <a:t>Three ways to build this</a:t>
            </a:r>
          </a:p>
        </p:txBody>
      </p:sp>
      <p:sp>
        <p:nvSpPr>
          <p:cNvPr id="6" name="TextBox 5"/>
          <p:cNvSpPr txBox="1"/>
          <p:nvPr/>
        </p:nvSpPr>
        <p:spPr>
          <a:xfrm>
            <a:off x="566928" y="1389888"/>
            <a:ext cx="11057839" cy="502920"/>
          </a:xfrm>
          <a:prstGeom prst="rect">
            <a:avLst/>
          </a:prstGeom>
          <a:noFill/>
        </p:spPr>
        <p:txBody>
          <a:bodyPr wrap="square">
            <a:spAutoFit/>
          </a:bodyPr>
          <a:lstStyle/>
          <a:p>
            <a:pPr>
              <a:spcAft>
                <a:spcPts val="800"/>
              </a:spcAft>
              <a:defRPr sz="1600" b="0">
                <a:solidFill>
                  <a:srgbClr val="71717A"/>
                </a:solidFill>
                <a:latin typeface="Helvetica Neue"/>
              </a:defRPr>
            </a:pPr>
            <a:r>
              <a:t>The two alternatives fail in opposite directions.</a:t>
            </a:r>
          </a:p>
        </p:txBody>
      </p:sp>
      <p:graphicFrame>
        <p:nvGraphicFramePr>
          <p:cNvPr id="7" name="Table 6"/>
          <p:cNvGraphicFramePr>
            <a:graphicFrameLocks noGrp="1"/>
          </p:cNvGraphicFramePr>
          <p:nvPr/>
        </p:nvGraphicFramePr>
        <p:xfrm>
          <a:off x="566928" y="2240280"/>
          <a:ext cx="11057837" cy="2798064"/>
        </p:xfrm>
        <a:graphic>
          <a:graphicData uri="http://schemas.openxmlformats.org/drawingml/2006/table">
            <a:tbl>
              <a:tblPr firstRow="1" bandRow="1">
                <a:tableStyleId>{5C22544A-7EE6-4342-B048-85BDC9FD1C3A}</a:tableStyleId>
              </a:tblPr>
              <a:tblGrid>
                <a:gridCol w="2618961"/>
                <a:gridCol w="2182468"/>
                <a:gridCol w="3055455"/>
                <a:gridCol w="3200953"/>
              </a:tblGrid>
              <a:tr h="310896">
                <a:tc>
                  <a:txBody>
                    <a:bodyPr/>
                    <a:lstStyle/>
                    <a:p>
                      <a:pPr>
                        <a:defRPr sz="1200" b="1">
                          <a:solidFill>
                            <a:srgbClr val="FFFFFF"/>
                          </a:solidFill>
                          <a:latin typeface="Helvetica Neue"/>
                        </a:defRPr>
                      </a:pPr>
                    </a:p>
                  </a:txBody>
                  <a:tcPr marL="64008" marR="64008" marT="27432" marB="27432">
                    <a:solidFill>
                      <a:srgbClr val="3730A3"/>
                    </a:solidFill>
                  </a:tcPr>
                </a:tc>
                <a:tc>
                  <a:txBody>
                    <a:bodyPr/>
                    <a:lstStyle/>
                    <a:p>
                      <a:pPr>
                        <a:defRPr sz="1200" b="1">
                          <a:solidFill>
                            <a:srgbClr val="FFFFFF"/>
                          </a:solidFill>
                          <a:latin typeface="Helvetica Neue"/>
                        </a:defRPr>
                      </a:pPr>
                      <a:r>
                        <a:t>A. this</a:t>
                      </a:r>
                    </a:p>
                  </a:txBody>
                  <a:tcPr marL="64008" marR="64008" marT="27432" marB="27432">
                    <a:solidFill>
                      <a:srgbClr val="3730A3"/>
                    </a:solidFill>
                  </a:tcPr>
                </a:tc>
                <a:tc>
                  <a:txBody>
                    <a:bodyPr/>
                    <a:lstStyle/>
                    <a:p>
                      <a:pPr>
                        <a:defRPr sz="1200" b="1">
                          <a:solidFill>
                            <a:srgbClr val="FFFFFF"/>
                          </a:solidFill>
                          <a:latin typeface="Helvetica Neue"/>
                        </a:defRPr>
                      </a:pPr>
                      <a:r>
                        <a:t>B. OCR plus a trained detector</a:t>
                      </a:r>
                    </a:p>
                  </a:txBody>
                  <a:tcPr marL="64008" marR="64008" marT="27432" marB="27432">
                    <a:solidFill>
                      <a:srgbClr val="3730A3"/>
                    </a:solidFill>
                  </a:tcPr>
                </a:tc>
                <a:tc>
                  <a:txBody>
                    <a:bodyPr/>
                    <a:lstStyle/>
                    <a:p>
                      <a:pPr>
                        <a:defRPr sz="1200" b="1">
                          <a:solidFill>
                            <a:srgbClr val="FFFFFF"/>
                          </a:solidFill>
                          <a:latin typeface="Helvetica Neue"/>
                        </a:defRPr>
                      </a:pPr>
                      <a:r>
                        <a:t>C. whole page to a frontier model</a:t>
                      </a:r>
                    </a:p>
                  </a:txBody>
                  <a:tcPr marL="64008" marR="64008" marT="27432" marB="27432">
                    <a:solidFill>
                      <a:srgbClr val="3730A3"/>
                    </a:solidFill>
                  </a:tcPr>
                </a:tc>
              </a:tr>
              <a:tr h="310896">
                <a:tc>
                  <a:txBody>
                    <a:bodyPr/>
                    <a:lstStyle/>
                    <a:p>
                      <a:pPr>
                        <a:defRPr sz="1200" b="0">
                          <a:solidFill>
                            <a:srgbClr val="18181B"/>
                          </a:solidFill>
                          <a:latin typeface="Helvetica Neue"/>
                        </a:defRPr>
                      </a:pPr>
                      <a:r>
                        <a:t>accuracy here</a:t>
                      </a:r>
                    </a:p>
                  </a:txBody>
                  <a:tcPr marL="64008" marR="64008" marT="27432" marB="27432">
                    <a:solidFill>
                      <a:srgbClr val="FFFFFF"/>
                    </a:solidFill>
                  </a:tcPr>
                </a:tc>
                <a:tc>
                  <a:txBody>
                    <a:bodyPr/>
                    <a:lstStyle/>
                    <a:p>
                      <a:pPr>
                        <a:defRPr sz="1200" b="0">
                          <a:solidFill>
                            <a:srgbClr val="18181B"/>
                          </a:solidFill>
                          <a:latin typeface="Helvetica Neue"/>
                        </a:defRPr>
                      </a:pPr>
                      <a:r>
                        <a:t>286 of 287</a:t>
                      </a:r>
                    </a:p>
                  </a:txBody>
                  <a:tcPr marL="64008" marR="64008" marT="27432" marB="27432">
                    <a:solidFill>
                      <a:srgbClr val="FFFFFF"/>
                    </a:solidFill>
                  </a:tcPr>
                </a:tc>
                <a:tc>
                  <a:txBody>
                    <a:bodyPr/>
                    <a:lstStyle/>
                    <a:p>
                      <a:pPr>
                        <a:defRPr sz="1200" b="0">
                          <a:solidFill>
                            <a:srgbClr val="18181B"/>
                          </a:solidFill>
                          <a:latin typeface="Helvetica Neue"/>
                        </a:defRPr>
                      </a:pPr>
                      <a:r>
                        <a:t>F1 0.88 to 0.96 published</a:t>
                      </a:r>
                    </a:p>
                  </a:txBody>
                  <a:tcPr marL="64008" marR="64008" marT="27432" marB="27432">
                    <a:solidFill>
                      <a:srgbClr val="FFFFFF"/>
                    </a:solidFill>
                  </a:tcPr>
                </a:tc>
                <a:tc>
                  <a:txBody>
                    <a:bodyPr/>
                    <a:lstStyle/>
                    <a:p>
                      <a:pPr>
                        <a:defRPr sz="1200" b="0">
                          <a:solidFill>
                            <a:srgbClr val="18181B"/>
                          </a:solidFill>
                          <a:latin typeface="Helvetica Neue"/>
                        </a:defRPr>
                      </a:pPr>
                      <a:r>
                        <a:t>documented weak spot on checkboxes</a:t>
                      </a:r>
                    </a:p>
                  </a:txBody>
                  <a:tcPr marL="64008" marR="64008" marT="27432" marB="27432">
                    <a:solidFill>
                      <a:srgbClr val="FFFFFF"/>
                    </a:solidFill>
                  </a:tcPr>
                </a:tc>
              </a:tr>
              <a:tr h="310896">
                <a:tc>
                  <a:txBody>
                    <a:bodyPr/>
                    <a:lstStyle/>
                    <a:p>
                      <a:pPr>
                        <a:defRPr sz="1200" b="0">
                          <a:solidFill>
                            <a:srgbClr val="18181B"/>
                          </a:solidFill>
                          <a:latin typeface="Helvetica Neue"/>
                        </a:defRPr>
                      </a:pPr>
                      <a:r>
                        <a:t>cost per page</a:t>
                      </a:r>
                    </a:p>
                  </a:txBody>
                  <a:tcPr marL="64008" marR="64008" marT="27432" marB="27432">
                    <a:solidFill>
                      <a:srgbClr val="F8FAFC"/>
                    </a:solidFill>
                  </a:tcPr>
                </a:tc>
                <a:tc>
                  <a:txBody>
                    <a:bodyPr/>
                    <a:lstStyle/>
                    <a:p>
                      <a:pPr>
                        <a:defRPr sz="1200" b="0">
                          <a:solidFill>
                            <a:srgbClr val="18181B"/>
                          </a:solidFill>
                          <a:latin typeface="Helvetica Neue"/>
                        </a:defRPr>
                      </a:pPr>
                      <a:r>
                        <a:t>$0.000004</a:t>
                      </a:r>
                    </a:p>
                  </a:txBody>
                  <a:tcPr marL="64008" marR="64008" marT="27432" marB="27432">
                    <a:solidFill>
                      <a:srgbClr val="F8FAFC"/>
                    </a:solidFill>
                  </a:tcPr>
                </a:tc>
                <a:tc>
                  <a:txBody>
                    <a:bodyPr/>
                    <a:lstStyle/>
                    <a:p>
                      <a:pPr>
                        <a:defRPr sz="1200" b="0">
                          <a:solidFill>
                            <a:srgbClr val="18181B"/>
                          </a:solidFill>
                          <a:latin typeface="Helvetica Neue"/>
                        </a:defRPr>
                      </a:pPr>
                      <a:r>
                        <a:t>about $0.010</a:t>
                      </a:r>
                    </a:p>
                  </a:txBody>
                  <a:tcPr marL="64008" marR="64008" marT="27432" marB="27432">
                    <a:solidFill>
                      <a:srgbClr val="F8FAFC"/>
                    </a:solidFill>
                  </a:tcPr>
                </a:tc>
                <a:tc>
                  <a:txBody>
                    <a:bodyPr/>
                    <a:lstStyle/>
                    <a:p>
                      <a:pPr>
                        <a:defRPr sz="1200" b="0">
                          <a:solidFill>
                            <a:srgbClr val="18181B"/>
                          </a:solidFill>
                          <a:latin typeface="Helvetica Neue"/>
                        </a:defRPr>
                      </a:pPr>
                      <a:r>
                        <a:t>about $0.085</a:t>
                      </a:r>
                    </a:p>
                  </a:txBody>
                  <a:tcPr marL="64008" marR="64008" marT="27432" marB="27432">
                    <a:solidFill>
                      <a:srgbClr val="F8FAFC"/>
                    </a:solidFill>
                  </a:tcPr>
                </a:tc>
              </a:tr>
              <a:tr h="310896">
                <a:tc>
                  <a:txBody>
                    <a:bodyPr/>
                    <a:lstStyle/>
                    <a:p>
                      <a:pPr>
                        <a:defRPr sz="1200" b="0">
                          <a:solidFill>
                            <a:srgbClr val="18181B"/>
                          </a:solidFill>
                          <a:latin typeface="Helvetica Neue"/>
                        </a:defRPr>
                      </a:pPr>
                      <a:r>
                        <a:t>latency</a:t>
                      </a:r>
                    </a:p>
                  </a:txBody>
                  <a:tcPr marL="64008" marR="64008" marT="27432" marB="27432">
                    <a:solidFill>
                      <a:srgbClr val="FFFFFF"/>
                    </a:solidFill>
                  </a:tcPr>
                </a:tc>
                <a:tc>
                  <a:txBody>
                    <a:bodyPr/>
                    <a:lstStyle/>
                    <a:p>
                      <a:pPr>
                        <a:defRPr sz="1200" b="0">
                          <a:solidFill>
                            <a:srgbClr val="18181B"/>
                          </a:solidFill>
                          <a:latin typeface="Helvetica Neue"/>
                        </a:defRPr>
                      </a:pPr>
                      <a:r>
                        <a:t>0.30 s, local</a:t>
                      </a:r>
                    </a:p>
                  </a:txBody>
                  <a:tcPr marL="64008" marR="64008" marT="27432" marB="27432">
                    <a:solidFill>
                      <a:srgbClr val="FFFFFF"/>
                    </a:solidFill>
                  </a:tcPr>
                </a:tc>
                <a:tc>
                  <a:txBody>
                    <a:bodyPr/>
                    <a:lstStyle/>
                    <a:p>
                      <a:pPr>
                        <a:defRPr sz="1200" b="0">
                          <a:solidFill>
                            <a:srgbClr val="18181B"/>
                          </a:solidFill>
                          <a:latin typeface="Helvetica Neue"/>
                        </a:defRPr>
                      </a:pPr>
                      <a:r>
                        <a:t>a vendor round trip</a:t>
                      </a:r>
                    </a:p>
                  </a:txBody>
                  <a:tcPr marL="64008" marR="64008" marT="27432" marB="27432">
                    <a:solidFill>
                      <a:srgbClr val="FFFFFF"/>
                    </a:solidFill>
                  </a:tcPr>
                </a:tc>
                <a:tc>
                  <a:txBody>
                    <a:bodyPr/>
                    <a:lstStyle/>
                    <a:p>
                      <a:pPr>
                        <a:defRPr sz="1200" b="0">
                          <a:solidFill>
                            <a:srgbClr val="18181B"/>
                          </a:solidFill>
                          <a:latin typeface="Helvetica Neue"/>
                        </a:defRPr>
                      </a:pPr>
                      <a:r>
                        <a:t>seconds, and variable</a:t>
                      </a:r>
                    </a:p>
                  </a:txBody>
                  <a:tcPr marL="64008" marR="64008" marT="27432" marB="27432">
                    <a:solidFill>
                      <a:srgbClr val="FFFFFF"/>
                    </a:solidFill>
                  </a:tcPr>
                </a:tc>
              </a:tr>
              <a:tr h="310896">
                <a:tc>
                  <a:txBody>
                    <a:bodyPr/>
                    <a:lstStyle/>
                    <a:p>
                      <a:pPr>
                        <a:defRPr sz="1200" b="0">
                          <a:solidFill>
                            <a:srgbClr val="18181B"/>
                          </a:solidFill>
                          <a:latin typeface="Helvetica Neue"/>
                        </a:defRPr>
                      </a:pPr>
                      <a:r>
                        <a:t>same page twice</a:t>
                      </a:r>
                    </a:p>
                  </a:txBody>
                  <a:tcPr marL="64008" marR="64008" marT="27432" marB="27432">
                    <a:solidFill>
                      <a:srgbClr val="F8FAFC"/>
                    </a:solidFill>
                  </a:tcPr>
                </a:tc>
                <a:tc>
                  <a:txBody>
                    <a:bodyPr/>
                    <a:lstStyle/>
                    <a:p>
                      <a:pPr>
                        <a:defRPr sz="1200" b="0">
                          <a:solidFill>
                            <a:srgbClr val="18181B"/>
                          </a:solidFill>
                          <a:latin typeface="Helvetica Neue"/>
                        </a:defRPr>
                      </a:pPr>
                      <a:r>
                        <a:t>byte-identical</a:t>
                      </a:r>
                    </a:p>
                  </a:txBody>
                  <a:tcPr marL="64008" marR="64008" marT="27432" marB="27432">
                    <a:solidFill>
                      <a:srgbClr val="F8FAFC"/>
                    </a:solidFill>
                  </a:tcPr>
                </a:tc>
                <a:tc>
                  <a:txBody>
                    <a:bodyPr/>
                    <a:lstStyle/>
                    <a:p>
                      <a:pPr>
                        <a:defRPr sz="1200" b="0">
                          <a:solidFill>
                            <a:srgbClr val="18181B"/>
                          </a:solidFill>
                          <a:latin typeface="Helvetica Neue"/>
                        </a:defRPr>
                      </a:pPr>
                      <a:r>
                        <a:t>yes, weights are frozen</a:t>
                      </a:r>
                    </a:p>
                  </a:txBody>
                  <a:tcPr marL="64008" marR="64008" marT="27432" marB="27432">
                    <a:solidFill>
                      <a:srgbClr val="F8FAFC"/>
                    </a:solidFill>
                  </a:tcPr>
                </a:tc>
                <a:tc>
                  <a:txBody>
                    <a:bodyPr/>
                    <a:lstStyle/>
                    <a:p>
                      <a:pPr>
                        <a:defRPr sz="1200" b="0">
                          <a:solidFill>
                            <a:srgbClr val="18181B"/>
                          </a:solidFill>
                          <a:latin typeface="Helvetica Neue"/>
                        </a:defRPr>
                      </a:pPr>
                      <a:r>
                        <a:t>no</a:t>
                      </a:r>
                    </a:p>
                  </a:txBody>
                  <a:tcPr marL="64008" marR="64008" marT="27432" marB="27432">
                    <a:solidFill>
                      <a:srgbClr val="F8FAFC"/>
                    </a:solidFill>
                  </a:tcPr>
                </a:tc>
              </a:tr>
              <a:tr h="310896">
                <a:tc>
                  <a:txBody>
                    <a:bodyPr/>
                    <a:lstStyle/>
                    <a:p>
                      <a:pPr>
                        <a:defRPr sz="1200" b="0">
                          <a:solidFill>
                            <a:srgbClr val="18181B"/>
                          </a:solidFill>
                          <a:latin typeface="Helvetica Neue"/>
                        </a:defRPr>
                      </a:pPr>
                      <a:r>
                        <a:t>who defines a mark</a:t>
                      </a:r>
                    </a:p>
                  </a:txBody>
                  <a:tcPr marL="64008" marR="64008" marT="27432" marB="27432">
                    <a:solidFill>
                      <a:srgbClr val="FFFFFF"/>
                    </a:solidFill>
                  </a:tcPr>
                </a:tc>
                <a:tc>
                  <a:txBody>
                    <a:bodyPr/>
                    <a:lstStyle/>
                    <a:p>
                      <a:pPr>
                        <a:defRPr sz="1200" b="0">
                          <a:solidFill>
                            <a:srgbClr val="18181B"/>
                          </a:solidFill>
                          <a:latin typeface="Helvetica Neue"/>
                        </a:defRPr>
                      </a:pPr>
                      <a:r>
                        <a:t>the customer, in a file</a:t>
                      </a:r>
                    </a:p>
                  </a:txBody>
                  <a:tcPr marL="64008" marR="64008" marT="27432" marB="27432">
                    <a:solidFill>
                      <a:srgbClr val="FFFFFF"/>
                    </a:solidFill>
                  </a:tcPr>
                </a:tc>
                <a:tc>
                  <a:txBody>
                    <a:bodyPr/>
                    <a:lstStyle/>
                    <a:p>
                      <a:pPr>
                        <a:defRPr sz="1200" b="0">
                          <a:solidFill>
                            <a:srgbClr val="18181B"/>
                          </a:solidFill>
                          <a:latin typeface="Helvetica Neue"/>
                        </a:defRPr>
                      </a:pPr>
                      <a:r>
                        <a:t>whoever labelled the training set</a:t>
                      </a:r>
                    </a:p>
                  </a:txBody>
                  <a:tcPr marL="64008" marR="64008" marT="27432" marB="27432">
                    <a:solidFill>
                      <a:srgbClr val="FFFFFF"/>
                    </a:solidFill>
                  </a:tcPr>
                </a:tc>
                <a:tc>
                  <a:txBody>
                    <a:bodyPr/>
                    <a:lstStyle/>
                    <a:p>
                      <a:pPr>
                        <a:defRPr sz="1200" b="0">
                          <a:solidFill>
                            <a:srgbClr val="18181B"/>
                          </a:solidFill>
                          <a:latin typeface="Helvetica Neue"/>
                        </a:defRPr>
                      </a:pPr>
                      <a:r>
                        <a:t>the model</a:t>
                      </a:r>
                    </a:p>
                  </a:txBody>
                  <a:tcPr marL="64008" marR="64008" marT="27432" marB="27432">
                    <a:solidFill>
                      <a:srgbClr val="FFFFFF"/>
                    </a:solidFill>
                  </a:tcPr>
                </a:tc>
              </a:tr>
              <a:tr h="310896">
                <a:tc>
                  <a:txBody>
                    <a:bodyPr/>
                    <a:lstStyle/>
                    <a:p>
                      <a:pPr>
                        <a:defRPr sz="1200" b="0">
                          <a:solidFill>
                            <a:srgbClr val="18181B"/>
                          </a:solidFill>
                          <a:latin typeface="Helvetica Neue"/>
                        </a:defRPr>
                      </a:pPr>
                      <a:r>
                        <a:t>changing that</a:t>
                      </a:r>
                    </a:p>
                  </a:txBody>
                  <a:tcPr marL="64008" marR="64008" marT="27432" marB="27432">
                    <a:solidFill>
                      <a:srgbClr val="F8FAFC"/>
                    </a:solidFill>
                  </a:tcPr>
                </a:tc>
                <a:tc>
                  <a:txBody>
                    <a:bodyPr/>
                    <a:lstStyle/>
                    <a:p>
                      <a:pPr>
                        <a:defRPr sz="1200" b="0">
                          <a:solidFill>
                            <a:srgbClr val="18181B"/>
                          </a:solidFill>
                          <a:latin typeface="Helvetica Neue"/>
                        </a:defRPr>
                      </a:pPr>
                      <a:r>
                        <a:t>edit policy.json</a:t>
                      </a:r>
                    </a:p>
                  </a:txBody>
                  <a:tcPr marL="64008" marR="64008" marT="27432" marB="27432">
                    <a:solidFill>
                      <a:srgbClr val="F8FAFC"/>
                    </a:solidFill>
                  </a:tcPr>
                </a:tc>
                <a:tc>
                  <a:txBody>
                    <a:bodyPr/>
                    <a:lstStyle/>
                    <a:p>
                      <a:pPr>
                        <a:defRPr sz="1200" b="0">
                          <a:solidFill>
                            <a:srgbClr val="18181B"/>
                          </a:solidFill>
                          <a:latin typeface="Helvetica Neue"/>
                        </a:defRPr>
                      </a:pPr>
                      <a:r>
                        <a:t>relabel and retrain</a:t>
                      </a:r>
                    </a:p>
                  </a:txBody>
                  <a:tcPr marL="64008" marR="64008" marT="27432" marB="27432">
                    <a:solidFill>
                      <a:srgbClr val="F8FAFC"/>
                    </a:solidFill>
                  </a:tcPr>
                </a:tc>
                <a:tc>
                  <a:txBody>
                    <a:bodyPr/>
                    <a:lstStyle/>
                    <a:p>
                      <a:pPr>
                        <a:defRPr sz="1200" b="0">
                          <a:solidFill>
                            <a:srgbClr val="18181B"/>
                          </a:solidFill>
                          <a:latin typeface="Helvetica Neue"/>
                        </a:defRPr>
                      </a:pPr>
                      <a:r>
                        <a:t>reword the prompt and hope</a:t>
                      </a:r>
                    </a:p>
                  </a:txBody>
                  <a:tcPr marL="64008" marR="64008" marT="27432" marB="27432">
                    <a:solidFill>
                      <a:srgbClr val="F8FAFC"/>
                    </a:solidFill>
                  </a:tcPr>
                </a:tc>
              </a:tr>
              <a:tr h="310896">
                <a:tc>
                  <a:txBody>
                    <a:bodyPr/>
                    <a:lstStyle/>
                    <a:p>
                      <a:pPr>
                        <a:defRPr sz="1200" b="0">
                          <a:solidFill>
                            <a:srgbClr val="18181B"/>
                          </a:solidFill>
                          <a:latin typeface="Helvetica Neue"/>
                        </a:defRPr>
                      </a:pPr>
                      <a:r>
                        <a:t>gates you can inspect</a:t>
                      </a:r>
                    </a:p>
                  </a:txBody>
                  <a:tcPr marL="64008" marR="64008" marT="27432" marB="27432">
                    <a:solidFill>
                      <a:srgbClr val="FFFFFF"/>
                    </a:solidFill>
                  </a:tcPr>
                </a:tc>
                <a:tc>
                  <a:txBody>
                    <a:bodyPr/>
                    <a:lstStyle/>
                    <a:p>
                      <a:pPr>
                        <a:defRPr sz="1200" b="0">
                          <a:solidFill>
                            <a:srgbClr val="18181B"/>
                          </a:solidFill>
                          <a:latin typeface="Helvetica Neue"/>
                        </a:defRPr>
                      </a:pPr>
                      <a:r>
                        <a:t>hard and soft, published</a:t>
                      </a:r>
                    </a:p>
                  </a:txBody>
                  <a:tcPr marL="64008" marR="64008" marT="27432" marB="27432">
                    <a:solidFill>
                      <a:srgbClr val="FFFFFF"/>
                    </a:solidFill>
                  </a:tcPr>
                </a:tc>
                <a:tc>
                  <a:txBody>
                    <a:bodyPr/>
                    <a:lstStyle/>
                    <a:p>
                      <a:pPr>
                        <a:defRPr sz="1200" b="0">
                          <a:solidFill>
                            <a:srgbClr val="18181B"/>
                          </a:solidFill>
                          <a:latin typeface="Helvetica Neue"/>
                        </a:defRPr>
                      </a:pPr>
                      <a:r>
                        <a:t>none exposed</a:t>
                      </a:r>
                    </a:p>
                  </a:txBody>
                  <a:tcPr marL="64008" marR="64008" marT="27432" marB="27432">
                    <a:solidFill>
                      <a:srgbClr val="FFFFFF"/>
                    </a:solidFill>
                  </a:tcPr>
                </a:tc>
                <a:tc>
                  <a:txBody>
                    <a:bodyPr/>
                    <a:lstStyle/>
                    <a:p>
                      <a:pPr>
                        <a:defRPr sz="1200" b="0">
                          <a:solidFill>
                            <a:srgbClr val="18181B"/>
                          </a:solidFill>
                          <a:latin typeface="Helvetica Neue"/>
                        </a:defRPr>
                      </a:pPr>
                      <a:r>
                        <a:t>none</a:t>
                      </a:r>
                    </a:p>
                  </a:txBody>
                  <a:tcPr marL="64008" marR="64008" marT="27432" marB="27432">
                    <a:solidFill>
                      <a:srgbClr val="FFFFFF"/>
                    </a:solidFill>
                  </a:tcPr>
                </a:tc>
              </a:tr>
              <a:tr h="310896">
                <a:tc>
                  <a:txBody>
                    <a:bodyPr/>
                    <a:lstStyle/>
                    <a:p>
                      <a:pPr>
                        <a:defRPr sz="1200" b="0">
                          <a:solidFill>
                            <a:srgbClr val="18181B"/>
                          </a:solidFill>
                          <a:latin typeface="Helvetica Neue"/>
                        </a:defRPr>
                      </a:pPr>
                      <a:r>
                        <a:t>documents leave</a:t>
                      </a:r>
                    </a:p>
                  </a:txBody>
                  <a:tcPr marL="64008" marR="64008" marT="27432" marB="27432">
                    <a:solidFill>
                      <a:srgbClr val="F8FAFC"/>
                    </a:solidFill>
                  </a:tcPr>
                </a:tc>
                <a:tc>
                  <a:txBody>
                    <a:bodyPr/>
                    <a:lstStyle/>
                    <a:p>
                      <a:pPr>
                        <a:defRPr sz="1200" b="0">
                          <a:solidFill>
                            <a:srgbClr val="18181B"/>
                          </a:solidFill>
                          <a:latin typeface="Helvetica Neue"/>
                        </a:defRPr>
                      </a:pPr>
                      <a:r>
                        <a:t>never</a:t>
                      </a:r>
                    </a:p>
                  </a:txBody>
                  <a:tcPr marL="64008" marR="64008" marT="27432" marB="27432">
                    <a:solidFill>
                      <a:srgbClr val="F8FAFC"/>
                    </a:solidFill>
                  </a:tcPr>
                </a:tc>
                <a:tc>
                  <a:txBody>
                    <a:bodyPr/>
                    <a:lstStyle/>
                    <a:p>
                      <a:pPr>
                        <a:defRPr sz="1200" b="0">
                          <a:solidFill>
                            <a:srgbClr val="18181B"/>
                          </a:solidFill>
                          <a:latin typeface="Helvetica Neue"/>
                        </a:defRPr>
                      </a:pPr>
                      <a:r>
                        <a:t>to the vendor</a:t>
                      </a:r>
                    </a:p>
                  </a:txBody>
                  <a:tcPr marL="64008" marR="64008" marT="27432" marB="27432">
                    <a:solidFill>
                      <a:srgbClr val="F8FAFC"/>
                    </a:solidFill>
                  </a:tcPr>
                </a:tc>
                <a:tc>
                  <a:txBody>
                    <a:bodyPr/>
                    <a:lstStyle/>
                    <a:p>
                      <a:pPr>
                        <a:defRPr sz="1200" b="0">
                          <a:solidFill>
                            <a:srgbClr val="18181B"/>
                          </a:solidFill>
                          <a:latin typeface="Helvetica Neue"/>
                        </a:defRPr>
                      </a:pPr>
                      <a:r>
                        <a:t>to the vendor, whole pages</a:t>
                      </a:r>
                    </a:p>
                  </a:txBody>
                  <a:tcPr marL="64008" marR="64008" marT="27432" marB="27432">
                    <a:solidFill>
                      <a:srgbClr val="F8FAFC"/>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75488"/>
          </a:xfrm>
          <a:prstGeom prst="rect">
            <a:avLst/>
          </a:prstGeom>
          <a:solidFill>
            <a:srgbClr val="3730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
            <a:ext cx="12191695" cy="28575"/>
          </a:xfrm>
          <a:prstGeom prst="rect">
            <a:avLst/>
          </a:prstGeom>
          <a:solidFill>
            <a:srgbClr val="586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00584"/>
            <a:ext cx="11057839" cy="329184"/>
          </a:xfrm>
          <a:prstGeom prst="rect">
            <a:avLst/>
          </a:prstGeom>
          <a:noFill/>
        </p:spPr>
        <p:txBody>
          <a:bodyPr wrap="square">
            <a:spAutoFit/>
          </a:bodyPr>
          <a:lstStyle/>
          <a:p>
            <a:pPr>
              <a:spcAft>
                <a:spcPts val="800"/>
              </a:spcAft>
              <a:defRPr sz="1100" b="0">
                <a:solidFill>
                  <a:srgbClr val="C7D2FE"/>
                </a:solidFill>
                <a:latin typeface="Helvetica Neue"/>
              </a:defRPr>
            </a:pPr>
            <a:r>
              <a:t>EVIDENCE</a:t>
            </a:r>
          </a:p>
        </p:txBody>
      </p:sp>
      <p:sp>
        <p:nvSpPr>
          <p:cNvPr id="5" name="TextBox 4"/>
          <p:cNvSpPr txBox="1"/>
          <p:nvPr/>
        </p:nvSpPr>
        <p:spPr>
          <a:xfrm>
            <a:off x="566928" y="731520"/>
            <a:ext cx="11057839" cy="731520"/>
          </a:xfrm>
          <a:prstGeom prst="rect">
            <a:avLst/>
          </a:prstGeom>
          <a:noFill/>
        </p:spPr>
        <p:txBody>
          <a:bodyPr wrap="square">
            <a:spAutoFit/>
          </a:bodyPr>
          <a:lstStyle/>
          <a:p>
            <a:pPr>
              <a:spcAft>
                <a:spcPts val="800"/>
              </a:spcAft>
              <a:defRPr sz="3000" b="1">
                <a:solidFill>
                  <a:srgbClr val="18181B"/>
                </a:solidFill>
                <a:latin typeface="Helvetica Neue"/>
              </a:defRPr>
            </a:pPr>
            <a:r>
              <a:t>Results</a:t>
            </a:r>
          </a:p>
        </p:txBody>
      </p:sp>
      <p:sp>
        <p:nvSpPr>
          <p:cNvPr id="6" name="TextBox 5"/>
          <p:cNvSpPr txBox="1"/>
          <p:nvPr/>
        </p:nvSpPr>
        <p:spPr>
          <a:xfrm>
            <a:off x="566928" y="1389888"/>
            <a:ext cx="11057839" cy="502920"/>
          </a:xfrm>
          <a:prstGeom prst="rect">
            <a:avLst/>
          </a:prstGeom>
          <a:noFill/>
        </p:spPr>
        <p:txBody>
          <a:bodyPr wrap="square">
            <a:spAutoFit/>
          </a:bodyPr>
          <a:lstStyle/>
          <a:p>
            <a:pPr>
              <a:spcAft>
                <a:spcPts val="800"/>
              </a:spcAft>
              <a:defRPr sz="1600" b="0">
                <a:solidFill>
                  <a:srgbClr val="71717A"/>
                </a:solidFill>
                <a:latin typeface="Helvetica Neue"/>
              </a:defRPr>
            </a:pPr>
            <a:r>
              <a:t>Reprinted by make eval. Nothing typed by hand.</a:t>
            </a:r>
          </a:p>
        </p:txBody>
      </p:sp>
      <p:graphicFrame>
        <p:nvGraphicFramePr>
          <p:cNvPr id="7" name="Table 6"/>
          <p:cNvGraphicFramePr>
            <a:graphicFrameLocks noGrp="1"/>
          </p:cNvGraphicFramePr>
          <p:nvPr/>
        </p:nvGraphicFramePr>
        <p:xfrm>
          <a:off x="566928" y="2286000"/>
          <a:ext cx="6949438" cy="1865376"/>
        </p:xfrm>
        <a:graphic>
          <a:graphicData uri="http://schemas.openxmlformats.org/drawingml/2006/table">
            <a:tbl>
              <a:tblPr firstRow="1" bandRow="1">
                <a:tableStyleId>{5C22544A-7EE6-4342-B048-85BDC9FD1C3A}</a:tableStyleId>
              </a:tblPr>
              <a:tblGrid>
                <a:gridCol w="2737658"/>
                <a:gridCol w="842356"/>
                <a:gridCol w="1263534"/>
                <a:gridCol w="1263534"/>
                <a:gridCol w="842356"/>
              </a:tblGrid>
              <a:tr h="310896">
                <a:tc>
                  <a:txBody>
                    <a:bodyPr/>
                    <a:lstStyle/>
                    <a:p>
                      <a:pPr>
                        <a:defRPr sz="1300" b="1">
                          <a:solidFill>
                            <a:srgbClr val="FFFFFF"/>
                          </a:solidFill>
                          <a:latin typeface="Helvetica Neue"/>
                        </a:defRPr>
                      </a:pPr>
                      <a:r>
                        <a:t>page</a:t>
                      </a:r>
                    </a:p>
                  </a:txBody>
                  <a:tcPr marL="64008" marR="64008" marT="27432" marB="27432">
                    <a:solidFill>
                      <a:srgbClr val="3730A3"/>
                    </a:solidFill>
                  </a:tcPr>
                </a:tc>
                <a:tc>
                  <a:txBody>
                    <a:bodyPr/>
                    <a:lstStyle/>
                    <a:p>
                      <a:pPr>
                        <a:defRPr sz="1300" b="1">
                          <a:solidFill>
                            <a:srgbClr val="FFFFFF"/>
                          </a:solidFill>
                          <a:latin typeface="Helvetica Neue"/>
                        </a:defRPr>
                      </a:pPr>
                      <a:r>
                        <a:t>boxes</a:t>
                      </a:r>
                    </a:p>
                  </a:txBody>
                  <a:tcPr marL="64008" marR="64008" marT="27432" marB="27432">
                    <a:solidFill>
                      <a:srgbClr val="3730A3"/>
                    </a:solidFill>
                  </a:tcPr>
                </a:tc>
                <a:tc>
                  <a:txBody>
                    <a:bodyPr/>
                    <a:lstStyle/>
                    <a:p>
                      <a:pPr>
                        <a:defRPr sz="1300" b="1">
                          <a:solidFill>
                            <a:srgbClr val="FFFFFF"/>
                          </a:solidFill>
                          <a:latin typeface="Helvetica Neue"/>
                        </a:defRPr>
                      </a:pPr>
                      <a:r>
                        <a:t>found</a:t>
                      </a:r>
                    </a:p>
                  </a:txBody>
                  <a:tcPr marL="64008" marR="64008" marT="27432" marB="27432">
                    <a:solidFill>
                      <a:srgbClr val="3730A3"/>
                    </a:solidFill>
                  </a:tcPr>
                </a:tc>
                <a:tc>
                  <a:txBody>
                    <a:bodyPr/>
                    <a:lstStyle/>
                    <a:p>
                      <a:pPr>
                        <a:defRPr sz="1300" b="1">
                          <a:solidFill>
                            <a:srgbClr val="FFFFFF"/>
                          </a:solidFill>
                          <a:latin typeface="Helvetica Neue"/>
                        </a:defRPr>
                      </a:pPr>
                      <a:r>
                        <a:t>marks right</a:t>
                      </a:r>
                    </a:p>
                  </a:txBody>
                  <a:tcPr marL="64008" marR="64008" marT="27432" marB="27432">
                    <a:solidFill>
                      <a:srgbClr val="3730A3"/>
                    </a:solidFill>
                  </a:tcPr>
                </a:tc>
                <a:tc>
                  <a:txBody>
                    <a:bodyPr/>
                    <a:lstStyle/>
                    <a:p>
                      <a:pPr>
                        <a:defRPr sz="1300" b="1">
                          <a:solidFill>
                            <a:srgbClr val="FFFFFF"/>
                          </a:solidFill>
                          <a:latin typeface="Helvetica Neue"/>
                        </a:defRPr>
                      </a:pPr>
                      <a:r>
                        <a:t>flagged</a:t>
                      </a:r>
                    </a:p>
                  </a:txBody>
                  <a:tcPr marL="64008" marR="64008" marT="27432" marB="27432">
                    <a:solidFill>
                      <a:srgbClr val="3730A3"/>
                    </a:solidFill>
                  </a:tcPr>
                </a:tc>
              </a:tr>
              <a:tr h="310896">
                <a:tc>
                  <a:txBody>
                    <a:bodyPr/>
                    <a:lstStyle/>
                    <a:p>
                      <a:pPr>
                        <a:defRPr sz="1300" b="0">
                          <a:solidFill>
                            <a:srgbClr val="18181B"/>
                          </a:solidFill>
                          <a:latin typeface="Helvetica Neue"/>
                        </a:defRPr>
                      </a:pPr>
                      <a:r>
                        <a:t>photographed page</a:t>
                      </a:r>
                    </a:p>
                  </a:txBody>
                  <a:tcPr marL="64008" marR="64008" marT="27432" marB="27432">
                    <a:solidFill>
                      <a:srgbClr val="FFFFFF"/>
                    </a:solidFill>
                  </a:tcPr>
                </a:tc>
                <a:tc>
                  <a:txBody>
                    <a:bodyPr/>
                    <a:lstStyle/>
                    <a:p>
                      <a:pPr>
                        <a:defRPr sz="1300" b="0">
                          <a:solidFill>
                            <a:srgbClr val="18181B"/>
                          </a:solidFill>
                          <a:latin typeface="Helvetica Neue"/>
                        </a:defRPr>
                      </a:pPr>
                      <a:r>
                        <a:t>42</a:t>
                      </a:r>
                    </a:p>
                  </a:txBody>
                  <a:tcPr marL="64008" marR="64008" marT="27432" marB="27432">
                    <a:solidFill>
                      <a:srgbClr val="FFFFFF"/>
                    </a:solidFill>
                  </a:tcPr>
                </a:tc>
                <a:tc>
                  <a:txBody>
                    <a:bodyPr/>
                    <a:lstStyle/>
                    <a:p>
                      <a:pPr>
                        <a:defRPr sz="1300" b="0">
                          <a:solidFill>
                            <a:srgbClr val="18181B"/>
                          </a:solidFill>
                          <a:latin typeface="Helvetica Neue"/>
                        </a:defRPr>
                      </a:pPr>
                      <a:r>
                        <a:t>41 of 42</a:t>
                      </a:r>
                    </a:p>
                  </a:txBody>
                  <a:tcPr marL="64008" marR="64008" marT="27432" marB="27432">
                    <a:solidFill>
                      <a:srgbClr val="FFFFFF"/>
                    </a:solidFill>
                  </a:tcPr>
                </a:tc>
                <a:tc>
                  <a:txBody>
                    <a:bodyPr/>
                    <a:lstStyle/>
                    <a:p>
                      <a:pPr>
                        <a:defRPr sz="1300" b="0">
                          <a:solidFill>
                            <a:srgbClr val="18181B"/>
                          </a:solidFill>
                          <a:latin typeface="Helvetica Neue"/>
                        </a:defRPr>
                      </a:pPr>
                      <a:r>
                        <a:t>40 of 41</a:t>
                      </a:r>
                    </a:p>
                  </a:txBody>
                  <a:tcPr marL="64008" marR="64008" marT="27432" marB="27432">
                    <a:solidFill>
                      <a:srgbClr val="FFFFFF"/>
                    </a:solidFill>
                  </a:tcPr>
                </a:tc>
                <a:tc>
                  <a:txBody>
                    <a:bodyPr/>
                    <a:lstStyle/>
                    <a:p>
                      <a:pPr>
                        <a:defRPr sz="1300" b="0">
                          <a:solidFill>
                            <a:srgbClr val="18181B"/>
                          </a:solidFill>
                          <a:latin typeface="Helvetica Neue"/>
                        </a:defRPr>
                      </a:pPr>
                      <a:r>
                        <a:t>2</a:t>
                      </a:r>
                    </a:p>
                  </a:txBody>
                  <a:tcPr marL="64008" marR="64008" marT="27432" marB="27432">
                    <a:solidFill>
                      <a:srgbClr val="FFFFFF"/>
                    </a:solidFill>
                  </a:tcPr>
                </a:tc>
              </a:tr>
              <a:tr h="310896">
                <a:tc>
                  <a:txBody>
                    <a:bodyPr/>
                    <a:lstStyle/>
                    <a:p>
                      <a:pPr>
                        <a:defRPr sz="1300" b="0">
                          <a:solidFill>
                            <a:srgbClr val="18181B"/>
                          </a:solidFill>
                          <a:latin typeface="Helvetica Neue"/>
                        </a:defRPr>
                      </a:pPr>
                      <a:r>
                        <a:t>standard form, clean scan</a:t>
                      </a:r>
                    </a:p>
                  </a:txBody>
                  <a:tcPr marL="64008" marR="64008" marT="27432" marB="27432">
                    <a:solidFill>
                      <a:srgbClr val="F8FAFC"/>
                    </a:solidFill>
                  </a:tcPr>
                </a:tc>
                <a:tc>
                  <a:txBody>
                    <a:bodyPr/>
                    <a:lstStyle/>
                    <a:p>
                      <a:pPr>
                        <a:defRPr sz="1300" b="0">
                          <a:solidFill>
                            <a:srgbClr val="18181B"/>
                          </a:solidFill>
                          <a:latin typeface="Helvetica Neue"/>
                        </a:defRPr>
                      </a:pPr>
                      <a:r>
                        <a:t>118</a:t>
                      </a:r>
                    </a:p>
                  </a:txBody>
                  <a:tcPr marL="64008" marR="64008" marT="27432" marB="27432">
                    <a:solidFill>
                      <a:srgbClr val="F8FAFC"/>
                    </a:solidFill>
                  </a:tcPr>
                </a:tc>
                <a:tc>
                  <a:txBody>
                    <a:bodyPr/>
                    <a:lstStyle/>
                    <a:p>
                      <a:pPr>
                        <a:defRPr sz="1300" b="0">
                          <a:solidFill>
                            <a:srgbClr val="18181B"/>
                          </a:solidFill>
                          <a:latin typeface="Helvetica Neue"/>
                        </a:defRPr>
                      </a:pPr>
                      <a:r>
                        <a:t>118 of 118</a:t>
                      </a:r>
                    </a:p>
                  </a:txBody>
                  <a:tcPr marL="64008" marR="64008" marT="27432" marB="27432">
                    <a:solidFill>
                      <a:srgbClr val="F8FAFC"/>
                    </a:solidFill>
                  </a:tcPr>
                </a:tc>
                <a:tc>
                  <a:txBody>
                    <a:bodyPr/>
                    <a:lstStyle/>
                    <a:p>
                      <a:pPr>
                        <a:defRPr sz="1300" b="0">
                          <a:solidFill>
                            <a:srgbClr val="18181B"/>
                          </a:solidFill>
                          <a:latin typeface="Helvetica Neue"/>
                        </a:defRPr>
                      </a:pPr>
                      <a:r>
                        <a:t>118 of 118</a:t>
                      </a:r>
                    </a:p>
                  </a:txBody>
                  <a:tcPr marL="64008" marR="64008" marT="27432" marB="27432">
                    <a:solidFill>
                      <a:srgbClr val="F8FAFC"/>
                    </a:solidFill>
                  </a:tcPr>
                </a:tc>
                <a:tc>
                  <a:txBody>
                    <a:bodyPr/>
                    <a:lstStyle/>
                    <a:p>
                      <a:pPr>
                        <a:defRPr sz="1300" b="0">
                          <a:solidFill>
                            <a:srgbClr val="18181B"/>
                          </a:solidFill>
                          <a:latin typeface="Helvetica Neue"/>
                        </a:defRPr>
                      </a:pPr>
                      <a:r>
                        <a:t>0</a:t>
                      </a:r>
                    </a:p>
                  </a:txBody>
                  <a:tcPr marL="64008" marR="64008" marT="27432" marB="27432">
                    <a:solidFill>
                      <a:srgbClr val="F8FAFC"/>
                    </a:solidFill>
                  </a:tcPr>
                </a:tc>
              </a:tr>
              <a:tr h="310896">
                <a:tc>
                  <a:txBody>
                    <a:bodyPr/>
                    <a:lstStyle/>
                    <a:p>
                      <a:pPr>
                        <a:defRPr sz="1300" b="0">
                          <a:solidFill>
                            <a:srgbClr val="18181B"/>
                          </a:solidFill>
                          <a:latin typeface="Helvetica Neue"/>
                        </a:defRPr>
                      </a:pPr>
                      <a:r>
                        <a:t>market addendum, shaded</a:t>
                      </a:r>
                    </a:p>
                  </a:txBody>
                  <a:tcPr marL="64008" marR="64008" marT="27432" marB="27432">
                    <a:solidFill>
                      <a:srgbClr val="FFFFFF"/>
                    </a:solidFill>
                  </a:tcPr>
                </a:tc>
                <a:tc>
                  <a:txBody>
                    <a:bodyPr/>
                    <a:lstStyle/>
                    <a:p>
                      <a:pPr>
                        <a:defRPr sz="1300" b="0">
                          <a:solidFill>
                            <a:srgbClr val="18181B"/>
                          </a:solidFill>
                          <a:latin typeface="Helvetica Neue"/>
                        </a:defRPr>
                      </a:pPr>
                      <a:r>
                        <a:t>48</a:t>
                      </a:r>
                    </a:p>
                  </a:txBody>
                  <a:tcPr marL="64008" marR="64008" marT="27432" marB="27432">
                    <a:solidFill>
                      <a:srgbClr val="FFFFFF"/>
                    </a:solidFill>
                  </a:tcPr>
                </a:tc>
                <a:tc>
                  <a:txBody>
                    <a:bodyPr/>
                    <a:lstStyle/>
                    <a:p>
                      <a:pPr>
                        <a:defRPr sz="1300" b="0">
                          <a:solidFill>
                            <a:srgbClr val="18181B"/>
                          </a:solidFill>
                          <a:latin typeface="Helvetica Neue"/>
                        </a:defRPr>
                      </a:pPr>
                      <a:r>
                        <a:t>48 of 48</a:t>
                      </a:r>
                    </a:p>
                  </a:txBody>
                  <a:tcPr marL="64008" marR="64008" marT="27432" marB="27432">
                    <a:solidFill>
                      <a:srgbClr val="FFFFFF"/>
                    </a:solidFill>
                  </a:tcPr>
                </a:tc>
                <a:tc>
                  <a:txBody>
                    <a:bodyPr/>
                    <a:lstStyle/>
                    <a:p>
                      <a:pPr>
                        <a:defRPr sz="1300" b="0">
                          <a:solidFill>
                            <a:srgbClr val="18181B"/>
                          </a:solidFill>
                          <a:latin typeface="Helvetica Neue"/>
                        </a:defRPr>
                      </a:pPr>
                      <a:r>
                        <a:t>48 of 48</a:t>
                      </a:r>
                    </a:p>
                  </a:txBody>
                  <a:tcPr marL="64008" marR="64008" marT="27432" marB="27432">
                    <a:solidFill>
                      <a:srgbClr val="FFFFFF"/>
                    </a:solidFill>
                  </a:tcPr>
                </a:tc>
                <a:tc>
                  <a:txBody>
                    <a:bodyPr/>
                    <a:lstStyle/>
                    <a:p>
                      <a:pPr>
                        <a:defRPr sz="1300" b="0">
                          <a:solidFill>
                            <a:srgbClr val="18181B"/>
                          </a:solidFill>
                          <a:latin typeface="Helvetica Neue"/>
                        </a:defRPr>
                      </a:pPr>
                      <a:r>
                        <a:t>0</a:t>
                      </a:r>
                    </a:p>
                  </a:txBody>
                  <a:tcPr marL="64008" marR="64008" marT="27432" marB="27432">
                    <a:solidFill>
                      <a:srgbClr val="FFFFFF"/>
                    </a:solidFill>
                  </a:tcPr>
                </a:tc>
              </a:tr>
              <a:tr h="310896">
                <a:tc>
                  <a:txBody>
                    <a:bodyPr/>
                    <a:lstStyle/>
                    <a:p>
                      <a:pPr>
                        <a:defRPr sz="1300" b="0">
                          <a:solidFill>
                            <a:srgbClr val="18181B"/>
                          </a:solidFill>
                          <a:latin typeface="Helvetica Neue"/>
                        </a:defRPr>
                      </a:pPr>
                      <a:r>
                        <a:t>manufactured home, watermarked</a:t>
                      </a:r>
                    </a:p>
                  </a:txBody>
                  <a:tcPr marL="64008" marR="64008" marT="27432" marB="27432">
                    <a:solidFill>
                      <a:srgbClr val="F8FAFC"/>
                    </a:solidFill>
                  </a:tcPr>
                </a:tc>
                <a:tc>
                  <a:txBody>
                    <a:bodyPr/>
                    <a:lstStyle/>
                    <a:p>
                      <a:pPr>
                        <a:defRPr sz="1300" b="0">
                          <a:solidFill>
                            <a:srgbClr val="18181B"/>
                          </a:solidFill>
                          <a:latin typeface="Helvetica Neue"/>
                        </a:defRPr>
                      </a:pPr>
                      <a:r>
                        <a:t>79</a:t>
                      </a:r>
                    </a:p>
                  </a:txBody>
                  <a:tcPr marL="64008" marR="64008" marT="27432" marB="27432">
                    <a:solidFill>
                      <a:srgbClr val="F8FAFC"/>
                    </a:solidFill>
                  </a:tcPr>
                </a:tc>
                <a:tc>
                  <a:txBody>
                    <a:bodyPr/>
                    <a:lstStyle/>
                    <a:p>
                      <a:pPr>
                        <a:defRPr sz="1300" b="0">
                          <a:solidFill>
                            <a:srgbClr val="18181B"/>
                          </a:solidFill>
                          <a:latin typeface="Helvetica Neue"/>
                        </a:defRPr>
                      </a:pPr>
                      <a:r>
                        <a:t>79 of 79</a:t>
                      </a:r>
                    </a:p>
                  </a:txBody>
                  <a:tcPr marL="64008" marR="64008" marT="27432" marB="27432">
                    <a:solidFill>
                      <a:srgbClr val="F8FAFC"/>
                    </a:solidFill>
                  </a:tcPr>
                </a:tc>
                <a:tc>
                  <a:txBody>
                    <a:bodyPr/>
                    <a:lstStyle/>
                    <a:p>
                      <a:pPr>
                        <a:defRPr sz="1300" b="0">
                          <a:solidFill>
                            <a:srgbClr val="18181B"/>
                          </a:solidFill>
                          <a:latin typeface="Helvetica Neue"/>
                        </a:defRPr>
                      </a:pPr>
                      <a:r>
                        <a:t>79 of 79</a:t>
                      </a:r>
                    </a:p>
                  </a:txBody>
                  <a:tcPr marL="64008" marR="64008" marT="27432" marB="27432">
                    <a:solidFill>
                      <a:srgbClr val="F8FAFC"/>
                    </a:solidFill>
                  </a:tcPr>
                </a:tc>
                <a:tc>
                  <a:txBody>
                    <a:bodyPr/>
                    <a:lstStyle/>
                    <a:p>
                      <a:pPr>
                        <a:defRPr sz="1300" b="0">
                          <a:solidFill>
                            <a:srgbClr val="18181B"/>
                          </a:solidFill>
                          <a:latin typeface="Helvetica Neue"/>
                        </a:defRPr>
                      </a:pPr>
                      <a:r>
                        <a:t>0</a:t>
                      </a:r>
                    </a:p>
                  </a:txBody>
                  <a:tcPr marL="64008" marR="64008" marT="27432" marB="27432">
                    <a:solidFill>
                      <a:srgbClr val="F8FAFC"/>
                    </a:solidFill>
                  </a:tcPr>
                </a:tc>
              </a:tr>
              <a:tr h="310896">
                <a:tc>
                  <a:txBody>
                    <a:bodyPr/>
                    <a:lstStyle/>
                    <a:p>
                      <a:pPr>
                        <a:defRPr sz="1300" b="0">
                          <a:solidFill>
                            <a:srgbClr val="18181B"/>
                          </a:solidFill>
                          <a:latin typeface="Helvetica Neue"/>
                        </a:defRPr>
                      </a:pPr>
                      <a:r>
                        <a:t>all four</a:t>
                      </a:r>
                    </a:p>
                  </a:txBody>
                  <a:tcPr marL="64008" marR="64008" marT="27432" marB="27432">
                    <a:solidFill>
                      <a:srgbClr val="FFFFFF"/>
                    </a:solidFill>
                  </a:tcPr>
                </a:tc>
                <a:tc>
                  <a:txBody>
                    <a:bodyPr/>
                    <a:lstStyle/>
                    <a:p>
                      <a:pPr>
                        <a:defRPr sz="1300" b="0">
                          <a:solidFill>
                            <a:srgbClr val="18181B"/>
                          </a:solidFill>
                          <a:latin typeface="Helvetica Neue"/>
                        </a:defRPr>
                      </a:pPr>
                      <a:r>
                        <a:t>287</a:t>
                      </a:r>
                    </a:p>
                  </a:txBody>
                  <a:tcPr marL="64008" marR="64008" marT="27432" marB="27432">
                    <a:solidFill>
                      <a:srgbClr val="FFFFFF"/>
                    </a:solidFill>
                  </a:tcPr>
                </a:tc>
                <a:tc>
                  <a:txBody>
                    <a:bodyPr/>
                    <a:lstStyle/>
                    <a:p>
                      <a:pPr>
                        <a:defRPr sz="1300" b="0">
                          <a:solidFill>
                            <a:srgbClr val="18181B"/>
                          </a:solidFill>
                          <a:latin typeface="Helvetica Neue"/>
                        </a:defRPr>
                      </a:pPr>
                      <a:r>
                        <a:t>286 of 287</a:t>
                      </a:r>
                    </a:p>
                  </a:txBody>
                  <a:tcPr marL="64008" marR="64008" marT="27432" marB="27432">
                    <a:solidFill>
                      <a:srgbClr val="FFFFFF"/>
                    </a:solidFill>
                  </a:tcPr>
                </a:tc>
                <a:tc>
                  <a:txBody>
                    <a:bodyPr/>
                    <a:lstStyle/>
                    <a:p>
                      <a:pPr>
                        <a:defRPr sz="1300" b="0">
                          <a:solidFill>
                            <a:srgbClr val="18181B"/>
                          </a:solidFill>
                          <a:latin typeface="Helvetica Neue"/>
                        </a:defRPr>
                      </a:pPr>
                      <a:r>
                        <a:t>285 of 286</a:t>
                      </a:r>
                    </a:p>
                  </a:txBody>
                  <a:tcPr marL="64008" marR="64008" marT="27432" marB="27432">
                    <a:solidFill>
                      <a:srgbClr val="FFFFFF"/>
                    </a:solidFill>
                  </a:tcPr>
                </a:tc>
                <a:tc>
                  <a:txBody>
                    <a:bodyPr/>
                    <a:lstStyle/>
                    <a:p>
                      <a:pPr>
                        <a:defRPr sz="1300" b="0">
                          <a:solidFill>
                            <a:srgbClr val="18181B"/>
                          </a:solidFill>
                          <a:latin typeface="Helvetica Neue"/>
                        </a:defRPr>
                      </a:pPr>
                      <a:r>
                        <a:t>2</a:t>
                      </a:r>
                    </a:p>
                  </a:txBody>
                  <a:tcPr marL="64008" marR="64008" marT="27432" marB="27432">
                    <a:solidFill>
                      <a:srgbClr val="FFFFFF"/>
                    </a:solidFill>
                  </a:tcPr>
                </a:tc>
              </a:tr>
            </a:tbl>
          </a:graphicData>
        </a:graphic>
      </p:graphicFrame>
      <p:sp>
        <p:nvSpPr>
          <p:cNvPr id="8" name="TextBox 7"/>
          <p:cNvSpPr txBox="1"/>
          <p:nvPr/>
        </p:nvSpPr>
        <p:spPr>
          <a:xfrm>
            <a:off x="7772400" y="2286000"/>
            <a:ext cx="3840480" cy="4023360"/>
          </a:xfrm>
          <a:prstGeom prst="rect">
            <a:avLst/>
          </a:prstGeom>
          <a:noFill/>
        </p:spPr>
        <p:txBody>
          <a:bodyPr wrap="square">
            <a:spAutoFit/>
          </a:bodyPr>
          <a:lstStyle/>
          <a:p>
            <a:pPr>
              <a:spcAft>
                <a:spcPts val="800"/>
              </a:spcAft>
              <a:defRPr sz="1500" b="1">
                <a:solidFill>
                  <a:srgbClr val="18181B"/>
                </a:solidFill>
                <a:latin typeface="Helvetica Neue"/>
              </a:defRPr>
            </a:pPr>
            <a:r>
              <a:t>Two answers are not clean, and I know why for both.</a:t>
            </a:r>
          </a:p>
          <a:p>
            <a:pPr>
              <a:spcAft>
                <a:spcPts val="800"/>
              </a:spcAft>
              <a:defRPr sz="1500" b="0">
                <a:solidFill>
                  <a:srgbClr val="18181B"/>
                </a:solidFill>
                <a:latin typeface="Helvetica Neue"/>
              </a:defRPr>
            </a:pPr>
            <a:r>
              <a:t>The miss is a checkbox printed so faintly the labeller called it a box and the software cannot see it.</a:t>
            </a:r>
          </a:p>
          <a:p>
            <a:pPr>
              <a:spcAft>
                <a:spcPts val="800"/>
              </a:spcAft>
              <a:defRPr sz="1500" b="0">
                <a:solidFill>
                  <a:srgbClr val="18181B"/>
                </a:solidFill>
                <a:latin typeface="Helvetica Neue"/>
              </a:defRPr>
            </a:pPr>
            <a:r>
              <a:t>The wrong mark is the faded ink, which the system flags as unclear rather than deciding. Counted strictly, an unclear answer counts against it.</a:t>
            </a:r>
          </a:p>
          <a:p>
            <a:pPr>
              <a:spcAft>
                <a:spcPts val="800"/>
              </a:spcAft>
              <a:defRPr sz="1500" b="0">
                <a:solidFill>
                  <a:srgbClr val="18181B"/>
                </a:solidFill>
                <a:latin typeface="Helvetica Neue"/>
              </a:defRPr>
            </a:pPr>
          </a:p>
          <a:p>
            <a:pPr>
              <a:spcAft>
                <a:spcPts val="800"/>
              </a:spcAft>
              <a:defRPr sz="1500" b="0">
                <a:solidFill>
                  <a:srgbClr val="18181B"/>
                </a:solidFill>
                <a:latin typeface="Helvetica Neue"/>
              </a:defRPr>
            </a:pPr>
            <a:r>
              <a:t>Across 61 pages and 5,872 boxes, including 52 damaged on purpose, it never drops below 96.5% correct under any kind of damage.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75488"/>
          </a:xfrm>
          <a:prstGeom prst="rect">
            <a:avLst/>
          </a:prstGeom>
          <a:solidFill>
            <a:srgbClr val="3730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
            <a:ext cx="12191695" cy="28575"/>
          </a:xfrm>
          <a:prstGeom prst="rect">
            <a:avLst/>
          </a:prstGeom>
          <a:solidFill>
            <a:srgbClr val="586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00584"/>
            <a:ext cx="11057839" cy="329184"/>
          </a:xfrm>
          <a:prstGeom prst="rect">
            <a:avLst/>
          </a:prstGeom>
          <a:noFill/>
        </p:spPr>
        <p:txBody>
          <a:bodyPr wrap="square">
            <a:spAutoFit/>
          </a:bodyPr>
          <a:lstStyle/>
          <a:p>
            <a:pPr>
              <a:spcAft>
                <a:spcPts val="800"/>
              </a:spcAft>
              <a:defRPr sz="1100" b="0">
                <a:solidFill>
                  <a:srgbClr val="C7D2FE"/>
                </a:solidFill>
                <a:latin typeface="Helvetica Neue"/>
              </a:defRPr>
            </a:pPr>
            <a:r>
              <a:t>EVIDENCE</a:t>
            </a:r>
          </a:p>
        </p:txBody>
      </p:sp>
      <p:sp>
        <p:nvSpPr>
          <p:cNvPr id="5" name="TextBox 4"/>
          <p:cNvSpPr txBox="1"/>
          <p:nvPr/>
        </p:nvSpPr>
        <p:spPr>
          <a:xfrm>
            <a:off x="566928" y="731520"/>
            <a:ext cx="11057839" cy="731520"/>
          </a:xfrm>
          <a:prstGeom prst="rect">
            <a:avLst/>
          </a:prstGeom>
          <a:noFill/>
        </p:spPr>
        <p:txBody>
          <a:bodyPr wrap="square">
            <a:spAutoFit/>
          </a:bodyPr>
          <a:lstStyle/>
          <a:p>
            <a:pPr>
              <a:spcAft>
                <a:spcPts val="800"/>
              </a:spcAft>
              <a:defRPr sz="3000" b="1">
                <a:solidFill>
                  <a:srgbClr val="18181B"/>
                </a:solidFill>
                <a:latin typeface="Helvetica Neue"/>
              </a:defRPr>
            </a:pPr>
            <a:r>
              <a:t>Build it and run it</a:t>
            </a:r>
          </a:p>
        </p:txBody>
      </p:sp>
      <p:sp>
        <p:nvSpPr>
          <p:cNvPr id="6" name="TextBox 5"/>
          <p:cNvSpPr txBox="1"/>
          <p:nvPr/>
        </p:nvSpPr>
        <p:spPr>
          <a:xfrm>
            <a:off x="566928" y="1389888"/>
            <a:ext cx="11057839" cy="502920"/>
          </a:xfrm>
          <a:prstGeom prst="rect">
            <a:avLst/>
          </a:prstGeom>
          <a:noFill/>
        </p:spPr>
        <p:txBody>
          <a:bodyPr wrap="square">
            <a:spAutoFit/>
          </a:bodyPr>
          <a:lstStyle/>
          <a:p>
            <a:pPr>
              <a:spcAft>
                <a:spcPts val="800"/>
              </a:spcAft>
              <a:defRPr sz="1600" b="0">
                <a:solidFill>
                  <a:srgbClr val="71717A"/>
                </a:solidFill>
                <a:latin typeface="Helvetica Neue"/>
              </a:defRPr>
            </a:pPr>
            <a:r>
              <a:t>From the unzipped folder. No accounts, no keys, no network after the install.</a:t>
            </a:r>
          </a:p>
        </p:txBody>
      </p:sp>
      <p:sp>
        <p:nvSpPr>
          <p:cNvPr id="7" name="Rounded Rectangle 6"/>
          <p:cNvSpPr/>
          <p:nvPr/>
        </p:nvSpPr>
        <p:spPr>
          <a:xfrm>
            <a:off x="566928" y="2194560"/>
            <a:ext cx="4480560" cy="786384"/>
          </a:xfrm>
          <a:prstGeom prst="roundRect">
            <a:avLst/>
          </a:prstGeom>
          <a:solidFill>
            <a:srgbClr val="EEF2FF"/>
          </a:solidFill>
          <a:ln w="1397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defRPr sz="1300" b="1">
                <a:solidFill>
                  <a:srgbClr val="18181B"/>
                </a:solidFill>
                <a:latin typeface="Helvetica Neue"/>
              </a:defRPr>
            </a:pPr>
            <a:r>
              <a:t>uv sync --extra dev</a:t>
            </a:r>
          </a:p>
        </p:txBody>
      </p:sp>
      <p:sp>
        <p:nvSpPr>
          <p:cNvPr id="8" name="TextBox 7"/>
          <p:cNvSpPr txBox="1"/>
          <p:nvPr/>
        </p:nvSpPr>
        <p:spPr>
          <a:xfrm>
            <a:off x="5303520" y="2231136"/>
            <a:ext cx="6309360" cy="822960"/>
          </a:xfrm>
          <a:prstGeom prst="rect">
            <a:avLst/>
          </a:prstGeom>
          <a:noFill/>
        </p:spPr>
        <p:txBody>
          <a:bodyPr wrap="square">
            <a:spAutoFit/>
          </a:bodyPr>
          <a:lstStyle/>
          <a:p>
            <a:pPr>
              <a:spcAft>
                <a:spcPts val="800"/>
              </a:spcAft>
              <a:defRPr sz="1500" b="0">
                <a:solidFill>
                  <a:srgbClr val="18181B"/>
                </a:solidFill>
                <a:latin typeface="Helvetica Neue"/>
              </a:defRPr>
            </a:pPr>
            <a:r>
              <a:t>Installs everything, tests included, into a local environment. One tool, one command.</a:t>
            </a:r>
          </a:p>
        </p:txBody>
      </p:sp>
      <p:sp>
        <p:nvSpPr>
          <p:cNvPr id="9" name="Rounded Rectangle 8"/>
          <p:cNvSpPr/>
          <p:nvPr/>
        </p:nvSpPr>
        <p:spPr>
          <a:xfrm>
            <a:off x="566928" y="3163824"/>
            <a:ext cx="4480560" cy="786384"/>
          </a:xfrm>
          <a:prstGeom prst="roundRect">
            <a:avLst/>
          </a:prstGeom>
          <a:solidFill>
            <a:srgbClr val="EEF2FF"/>
          </a:solidFill>
          <a:ln w="1397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defRPr sz="1300" b="1">
                <a:solidFill>
                  <a:srgbClr val="18181B"/>
                </a:solidFill>
                <a:latin typeface="Helvetica Neue"/>
              </a:defRPr>
            </a:pPr>
            <a:r>
              <a:t>make serve</a:t>
            </a:r>
          </a:p>
        </p:txBody>
      </p:sp>
      <p:sp>
        <p:nvSpPr>
          <p:cNvPr id="10" name="TextBox 9"/>
          <p:cNvSpPr txBox="1"/>
          <p:nvPr/>
        </p:nvSpPr>
        <p:spPr>
          <a:xfrm>
            <a:off x="5303520" y="3200400"/>
            <a:ext cx="6309360" cy="822960"/>
          </a:xfrm>
          <a:prstGeom prst="rect">
            <a:avLst/>
          </a:prstGeom>
          <a:noFill/>
        </p:spPr>
        <p:txBody>
          <a:bodyPr wrap="square">
            <a:spAutoFit/>
          </a:bodyPr>
          <a:lstStyle/>
          <a:p>
            <a:pPr>
              <a:spcAft>
                <a:spcPts val="800"/>
              </a:spcAft>
              <a:defRPr sz="1500" b="0">
                <a:solidFill>
                  <a:srgbClr val="18181B"/>
                </a:solidFill>
                <a:latin typeface="Helvetica Neue"/>
              </a:defRPr>
            </a:pPr>
            <a:r>
              <a:t>Starts the service on localhost:8000. The same thing runs from a container: make docker-build, then make docker-run.</a:t>
            </a:r>
          </a:p>
        </p:txBody>
      </p:sp>
      <p:sp>
        <p:nvSpPr>
          <p:cNvPr id="11" name="Rounded Rectangle 10"/>
          <p:cNvSpPr/>
          <p:nvPr/>
        </p:nvSpPr>
        <p:spPr>
          <a:xfrm>
            <a:off x="566928" y="4133088"/>
            <a:ext cx="4480560" cy="786384"/>
          </a:xfrm>
          <a:prstGeom prst="roundRect">
            <a:avLst/>
          </a:prstGeom>
          <a:solidFill>
            <a:srgbClr val="EEF2FF"/>
          </a:solidFill>
          <a:ln w="1397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defRPr sz="1300" b="1">
                <a:solidFill>
                  <a:srgbClr val="18181B"/>
                </a:solidFill>
                <a:latin typeface="Helvetica Neue"/>
              </a:defRPr>
            </a:pPr>
            <a:r>
              <a:t>curl -F file=@data/samples/sample_1.jpg</a:t>
            </a:r>
          </a:p>
          <a:p>
            <a:pPr algn="ctr">
              <a:defRPr sz="1100" b="0">
                <a:solidFill>
                  <a:srgbClr val="18181B"/>
                </a:solidFill>
                <a:latin typeface="Helvetica Neue"/>
              </a:defRPr>
            </a:pPr>
            <a:r>
              <a:t>localhost:8000/detect</a:t>
            </a:r>
          </a:p>
        </p:txBody>
      </p:sp>
      <p:sp>
        <p:nvSpPr>
          <p:cNvPr id="12" name="TextBox 11"/>
          <p:cNvSpPr txBox="1"/>
          <p:nvPr/>
        </p:nvSpPr>
        <p:spPr>
          <a:xfrm>
            <a:off x="5303520" y="4169664"/>
            <a:ext cx="6309360" cy="822960"/>
          </a:xfrm>
          <a:prstGeom prst="rect">
            <a:avLst/>
          </a:prstGeom>
          <a:noFill/>
        </p:spPr>
        <p:txBody>
          <a:bodyPr wrap="square">
            <a:spAutoFit/>
          </a:bodyPr>
          <a:lstStyle/>
          <a:p>
            <a:pPr>
              <a:spcAft>
                <a:spcPts val="800"/>
              </a:spcAft>
              <a:defRPr sz="1500" b="0">
                <a:solidFill>
                  <a:srgbClr val="18181B"/>
                </a:solidFill>
                <a:latin typeface="Helvetica Neue"/>
              </a:defRPr>
            </a:pPr>
            <a:r>
              <a:t>Returns one JSON entry per checkbox, its rectangle and whether it is marked. Add /overlay after /detect and the page comes back with every box drawn on it.</a:t>
            </a:r>
          </a:p>
        </p:txBody>
      </p:sp>
      <p:sp>
        <p:nvSpPr>
          <p:cNvPr id="13" name="Rounded Rectangle 12"/>
          <p:cNvSpPr/>
          <p:nvPr/>
        </p:nvSpPr>
        <p:spPr>
          <a:xfrm>
            <a:off x="566928" y="5102352"/>
            <a:ext cx="4480560" cy="786384"/>
          </a:xfrm>
          <a:prstGeom prst="roundRect">
            <a:avLst/>
          </a:prstGeom>
          <a:solidFill>
            <a:srgbClr val="EEF2FF"/>
          </a:solidFill>
          <a:ln w="1397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defRPr sz="1300" b="1">
                <a:solidFill>
                  <a:srgbClr val="18181B"/>
                </a:solidFill>
                <a:latin typeface="Helvetica Neue"/>
              </a:defRPr>
            </a:pPr>
            <a:r>
              <a:t>make test   ·   make eval</a:t>
            </a:r>
          </a:p>
        </p:txBody>
      </p:sp>
      <p:sp>
        <p:nvSpPr>
          <p:cNvPr id="14" name="TextBox 13"/>
          <p:cNvSpPr txBox="1"/>
          <p:nvPr/>
        </p:nvSpPr>
        <p:spPr>
          <a:xfrm>
            <a:off x="5303520" y="5138928"/>
            <a:ext cx="6309360" cy="822960"/>
          </a:xfrm>
          <a:prstGeom prst="rect">
            <a:avLst/>
          </a:prstGeom>
          <a:noFill/>
        </p:spPr>
        <p:txBody>
          <a:bodyPr wrap="square">
            <a:spAutoFit/>
          </a:bodyPr>
          <a:lstStyle/>
          <a:p>
            <a:pPr>
              <a:spcAft>
                <a:spcPts val="800"/>
              </a:spcAft>
              <a:defRPr sz="1500" b="0">
                <a:solidFill>
                  <a:srgbClr val="18181B"/>
                </a:solidFill>
                <a:latin typeface="Helvetica Neue"/>
              </a:defRPr>
            </a:pPr>
            <a:r>
              <a:t>Runs the 26 safety gates, then reprints the accuracy table from scratch.</a:t>
            </a:r>
          </a:p>
        </p:txBody>
      </p:sp>
      <p:sp>
        <p:nvSpPr>
          <p:cNvPr id="15" name="TextBox 14"/>
          <p:cNvSpPr txBox="1"/>
          <p:nvPr/>
        </p:nvSpPr>
        <p:spPr>
          <a:xfrm>
            <a:off x="566928" y="6144768"/>
            <a:ext cx="11057839" cy="548640"/>
          </a:xfrm>
          <a:prstGeom prst="rect">
            <a:avLst/>
          </a:prstGeom>
          <a:noFill/>
        </p:spPr>
        <p:txBody>
          <a:bodyPr wrap="square">
            <a:spAutoFit/>
          </a:bodyPr>
          <a:lstStyle/>
          <a:p>
            <a:pPr>
              <a:spcAft>
                <a:spcPts val="800"/>
              </a:spcAft>
              <a:defRPr sz="1500" b="0">
                <a:solidFill>
                  <a:srgbClr val="71717A"/>
                </a:solidFill>
                <a:latin typeface="Helvetica Neue"/>
              </a:defRPr>
            </a:pPr>
            <a:r>
              <a:t>I ran every one of these from a fresh unzip of this zip before building the deck.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75488"/>
          </a:xfrm>
          <a:prstGeom prst="rect">
            <a:avLst/>
          </a:prstGeom>
          <a:solidFill>
            <a:srgbClr val="3730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
            <a:ext cx="12191695" cy="28575"/>
          </a:xfrm>
          <a:prstGeom prst="rect">
            <a:avLst/>
          </a:prstGeom>
          <a:solidFill>
            <a:srgbClr val="586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00584"/>
            <a:ext cx="11057839" cy="329184"/>
          </a:xfrm>
          <a:prstGeom prst="rect">
            <a:avLst/>
          </a:prstGeom>
          <a:noFill/>
        </p:spPr>
        <p:txBody>
          <a:bodyPr wrap="square">
            <a:spAutoFit/>
          </a:bodyPr>
          <a:lstStyle/>
          <a:p>
            <a:pPr>
              <a:spcAft>
                <a:spcPts val="800"/>
              </a:spcAft>
              <a:defRPr sz="1100" b="0">
                <a:solidFill>
                  <a:srgbClr val="C7D2FE"/>
                </a:solidFill>
                <a:latin typeface="Helvetica Neue"/>
              </a:defRPr>
            </a:pPr>
            <a:r>
              <a:t>EVIDENCE</a:t>
            </a:r>
          </a:p>
        </p:txBody>
      </p:sp>
      <p:sp>
        <p:nvSpPr>
          <p:cNvPr id="5" name="TextBox 4"/>
          <p:cNvSpPr txBox="1"/>
          <p:nvPr/>
        </p:nvSpPr>
        <p:spPr>
          <a:xfrm>
            <a:off x="566928" y="731520"/>
            <a:ext cx="11057839" cy="731520"/>
          </a:xfrm>
          <a:prstGeom prst="rect">
            <a:avLst/>
          </a:prstGeom>
          <a:noFill/>
        </p:spPr>
        <p:txBody>
          <a:bodyPr wrap="square">
            <a:spAutoFit/>
          </a:bodyPr>
          <a:lstStyle/>
          <a:p>
            <a:pPr>
              <a:spcAft>
                <a:spcPts val="800"/>
              </a:spcAft>
              <a:defRPr sz="3000" b="1">
                <a:solidFill>
                  <a:srgbClr val="18181B"/>
                </a:solidFill>
                <a:latin typeface="Helvetica Neue"/>
              </a:defRPr>
            </a:pPr>
            <a:r>
              <a:t>Where you put your own eyes on it</a:t>
            </a:r>
          </a:p>
        </p:txBody>
      </p:sp>
      <p:sp>
        <p:nvSpPr>
          <p:cNvPr id="6" name="TextBox 5"/>
          <p:cNvSpPr txBox="1"/>
          <p:nvPr/>
        </p:nvSpPr>
        <p:spPr>
          <a:xfrm>
            <a:off x="566928" y="1389888"/>
            <a:ext cx="11057839" cy="502920"/>
          </a:xfrm>
          <a:prstGeom prst="rect">
            <a:avLst/>
          </a:prstGeom>
          <a:noFill/>
        </p:spPr>
        <p:txBody>
          <a:bodyPr wrap="square">
            <a:spAutoFit/>
          </a:bodyPr>
          <a:lstStyle/>
          <a:p>
            <a:pPr>
              <a:spcAft>
                <a:spcPts val="800"/>
              </a:spcAft>
              <a:defRPr sz="1600" b="0">
                <a:solidFill>
                  <a:srgbClr val="71717A"/>
                </a:solidFill>
                <a:latin typeface="Helvetica Neue"/>
              </a:defRPr>
            </a:pPr>
            <a:r>
              <a:t>Four places, each a command rather than a claim.</a:t>
            </a:r>
          </a:p>
        </p:txBody>
      </p:sp>
      <p:sp>
        <p:nvSpPr>
          <p:cNvPr id="7" name="Rounded Rectangle 6"/>
          <p:cNvSpPr/>
          <p:nvPr/>
        </p:nvSpPr>
        <p:spPr>
          <a:xfrm>
            <a:off x="566928" y="2194560"/>
            <a:ext cx="3017520" cy="676656"/>
          </a:xfrm>
          <a:prstGeom prst="roundRect">
            <a:avLst/>
          </a:prstGeom>
          <a:solidFill>
            <a:srgbClr val="EEF2FF"/>
          </a:solidFill>
          <a:ln w="1397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defRPr sz="1400" b="1">
                <a:solidFill>
                  <a:srgbClr val="18181B"/>
                </a:solidFill>
                <a:latin typeface="Helvetica Neue"/>
              </a:defRPr>
            </a:pPr>
            <a:r>
              <a:t>make overlays</a:t>
            </a:r>
          </a:p>
        </p:txBody>
      </p:sp>
      <p:sp>
        <p:nvSpPr>
          <p:cNvPr id="8" name="TextBox 7"/>
          <p:cNvSpPr txBox="1"/>
          <p:nvPr/>
        </p:nvSpPr>
        <p:spPr>
          <a:xfrm>
            <a:off x="3931920" y="2212848"/>
            <a:ext cx="7680960" cy="731520"/>
          </a:xfrm>
          <a:prstGeom prst="rect">
            <a:avLst/>
          </a:prstGeom>
          <a:noFill/>
        </p:spPr>
        <p:txBody>
          <a:bodyPr wrap="square">
            <a:spAutoFit/>
          </a:bodyPr>
          <a:lstStyle/>
          <a:p>
            <a:pPr>
              <a:spcAft>
                <a:spcPts val="800"/>
              </a:spcAft>
              <a:defRPr sz="1500" b="0">
                <a:solidFill>
                  <a:srgbClr val="18181B"/>
                </a:solidFill>
                <a:latin typeface="Helvetica Neue"/>
              </a:defRPr>
            </a:pPr>
            <a:r>
              <a:t>Every box drawn on all four pages. Green marked, red empty, amber held back. Disagreeing with a picture takes seconds.</a:t>
            </a:r>
          </a:p>
        </p:txBody>
      </p:sp>
      <p:sp>
        <p:nvSpPr>
          <p:cNvPr id="9" name="Rounded Rectangle 8"/>
          <p:cNvSpPr/>
          <p:nvPr/>
        </p:nvSpPr>
        <p:spPr>
          <a:xfrm>
            <a:off x="566928" y="3035808"/>
            <a:ext cx="3017520" cy="676656"/>
          </a:xfrm>
          <a:prstGeom prst="roundRect">
            <a:avLst/>
          </a:prstGeom>
          <a:solidFill>
            <a:srgbClr val="EEF2FF"/>
          </a:solidFill>
          <a:ln w="1397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defRPr sz="1400" b="1">
                <a:solidFill>
                  <a:srgbClr val="18181B"/>
                </a:solidFill>
                <a:latin typeface="Helvetica Neue"/>
              </a:defRPr>
            </a:pPr>
            <a:r>
              <a:t>?explain=true</a:t>
            </a:r>
          </a:p>
        </p:txBody>
      </p:sp>
      <p:sp>
        <p:nvSpPr>
          <p:cNvPr id="10" name="TextBox 9"/>
          <p:cNvSpPr txBox="1"/>
          <p:nvPr/>
        </p:nvSpPr>
        <p:spPr>
          <a:xfrm>
            <a:off x="3931920" y="3054096"/>
            <a:ext cx="7680960" cy="731520"/>
          </a:xfrm>
          <a:prstGeom prst="rect">
            <a:avLst/>
          </a:prstGeom>
          <a:noFill/>
        </p:spPr>
        <p:txBody>
          <a:bodyPr wrap="square">
            <a:spAutoFit/>
          </a:bodyPr>
          <a:lstStyle/>
          <a:p>
            <a:pPr>
              <a:spcAft>
                <a:spcPts val="800"/>
              </a:spcAft>
              <a:defRPr sz="1500" b="0">
                <a:solidFill>
                  <a:srgbClr val="18181B"/>
                </a:solidFill>
                <a:latin typeface="Helvetica Neue"/>
              </a:defRPr>
            </a:pPr>
            <a:r>
              <a:t>One box: the ink, the confidence, the reason codes, which form matched, how far the two readers agreed, and every candidate it threw away with why.</a:t>
            </a:r>
          </a:p>
        </p:txBody>
      </p:sp>
      <p:sp>
        <p:nvSpPr>
          <p:cNvPr id="11" name="Rounded Rectangle 10"/>
          <p:cNvSpPr/>
          <p:nvPr/>
        </p:nvSpPr>
        <p:spPr>
          <a:xfrm>
            <a:off x="566928" y="3877056"/>
            <a:ext cx="3017520" cy="676656"/>
          </a:xfrm>
          <a:prstGeom prst="roundRect">
            <a:avLst/>
          </a:prstGeom>
          <a:solidFill>
            <a:srgbClr val="EEF2FF"/>
          </a:solidFill>
          <a:ln w="1397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defRPr sz="1400" b="1">
                <a:solidFill>
                  <a:srgbClr val="18181B"/>
                </a:solidFill>
                <a:latin typeface="Helvetica Neue"/>
              </a:defRPr>
            </a:pPr>
            <a:r>
              <a:t>make eval  ·  make test</a:t>
            </a:r>
          </a:p>
        </p:txBody>
      </p:sp>
      <p:sp>
        <p:nvSpPr>
          <p:cNvPr id="12" name="TextBox 11"/>
          <p:cNvSpPr txBox="1"/>
          <p:nvPr/>
        </p:nvSpPr>
        <p:spPr>
          <a:xfrm>
            <a:off x="3931920" y="3895344"/>
            <a:ext cx="7680960" cy="731520"/>
          </a:xfrm>
          <a:prstGeom prst="rect">
            <a:avLst/>
          </a:prstGeom>
          <a:noFill/>
        </p:spPr>
        <p:txBody>
          <a:bodyPr wrap="square">
            <a:spAutoFit/>
          </a:bodyPr>
          <a:lstStyle/>
          <a:p>
            <a:pPr>
              <a:spcAft>
                <a:spcPts val="800"/>
              </a:spcAft>
              <a:defRPr sz="1500" b="0">
                <a:solidFill>
                  <a:srgbClr val="18181B"/>
                </a:solidFill>
                <a:latin typeface="Helvetica Neue"/>
              </a:defRPr>
            </a:pPr>
            <a:r>
              <a:t>Reprints the results table from scratch and runs 26 gates. Two of those gates I checked by reverting the fix and confirming they fail.</a:t>
            </a:r>
          </a:p>
        </p:txBody>
      </p:sp>
      <p:sp>
        <p:nvSpPr>
          <p:cNvPr id="13" name="Rounded Rectangle 12"/>
          <p:cNvSpPr/>
          <p:nvPr/>
        </p:nvSpPr>
        <p:spPr>
          <a:xfrm>
            <a:off x="566928" y="4718304"/>
            <a:ext cx="3017520" cy="676656"/>
          </a:xfrm>
          <a:prstGeom prst="roundRect">
            <a:avLst/>
          </a:prstGeom>
          <a:solidFill>
            <a:srgbClr val="EEF2FF"/>
          </a:solidFill>
          <a:ln w="13970">
            <a:solidFill>
              <a:srgbClr val="4F46E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defRPr sz="1400" b="1">
                <a:solidFill>
                  <a:srgbClr val="18181B"/>
                </a:solidFill>
                <a:latin typeface="Helvetica Neue"/>
              </a:defRPr>
            </a:pPr>
            <a:r>
              <a:t>scripts/fetch_holdout.py --score</a:t>
            </a:r>
          </a:p>
        </p:txBody>
      </p:sp>
      <p:sp>
        <p:nvSpPr>
          <p:cNvPr id="14" name="TextBox 13"/>
          <p:cNvSpPr txBox="1"/>
          <p:nvPr/>
        </p:nvSpPr>
        <p:spPr>
          <a:xfrm>
            <a:off x="3931920" y="4736592"/>
            <a:ext cx="7680960" cy="731520"/>
          </a:xfrm>
          <a:prstGeom prst="rect">
            <a:avLst/>
          </a:prstGeom>
          <a:noFill/>
        </p:spPr>
        <p:txBody>
          <a:bodyPr wrap="square">
            <a:spAutoFit/>
          </a:bodyPr>
          <a:lstStyle/>
          <a:p>
            <a:pPr>
              <a:spcAft>
                <a:spcPts val="800"/>
              </a:spcAft>
              <a:defRPr sz="1500" b="0">
                <a:solidFill>
                  <a:srgbClr val="18181B"/>
                </a:solidFill>
                <a:latin typeface="Helvetica Neue"/>
              </a:defRPr>
            </a:pPr>
            <a:r>
              <a:t>Five completed appraisals from three offices, fetched and scored live.</a:t>
            </a:r>
          </a:p>
        </p:txBody>
      </p:sp>
      <p:sp>
        <p:nvSpPr>
          <p:cNvPr id="15" name="TextBox 14"/>
          <p:cNvSpPr txBox="1"/>
          <p:nvPr/>
        </p:nvSpPr>
        <p:spPr>
          <a:xfrm>
            <a:off x="566928" y="5605272"/>
            <a:ext cx="11057839" cy="640080"/>
          </a:xfrm>
          <a:prstGeom prst="rect">
            <a:avLst/>
          </a:prstGeom>
          <a:noFill/>
        </p:spPr>
        <p:txBody>
          <a:bodyPr wrap="square">
            <a:spAutoFit/>
          </a:bodyPr>
          <a:lstStyle/>
          <a:p>
            <a:pPr>
              <a:spcAft>
                <a:spcPts val="800"/>
              </a:spcAft>
              <a:defRPr sz="1600" b="0">
                <a:solidFill>
                  <a:srgbClr val="71717A"/>
                </a:solidFill>
                <a:latin typeface="Helvetica Neue"/>
              </a:defRPr>
            </a:pPr>
            <a:r>
              <a:t>Once this is running for real, the place a person looks is the exception queue. 138 boxes out of 5,872, each carrying a reason, instead of a person re-reading every page.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75488"/>
          </a:xfrm>
          <a:prstGeom prst="rect">
            <a:avLst/>
          </a:prstGeom>
          <a:solidFill>
            <a:srgbClr val="3730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
            <a:ext cx="12191695" cy="28575"/>
          </a:xfrm>
          <a:prstGeom prst="rect">
            <a:avLst/>
          </a:prstGeom>
          <a:solidFill>
            <a:srgbClr val="586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00584"/>
            <a:ext cx="11057839" cy="329184"/>
          </a:xfrm>
          <a:prstGeom prst="rect">
            <a:avLst/>
          </a:prstGeom>
          <a:noFill/>
        </p:spPr>
        <p:txBody>
          <a:bodyPr wrap="square">
            <a:spAutoFit/>
          </a:bodyPr>
          <a:lstStyle/>
          <a:p>
            <a:pPr>
              <a:spcAft>
                <a:spcPts val="800"/>
              </a:spcAft>
              <a:defRPr sz="1100" b="0">
                <a:solidFill>
                  <a:srgbClr val="C7D2FE"/>
                </a:solidFill>
                <a:latin typeface="Helvetica Neue"/>
              </a:defRPr>
            </a:pPr>
            <a:r>
              <a:t>EVIDENCE</a:t>
            </a:r>
          </a:p>
        </p:txBody>
      </p:sp>
      <p:sp>
        <p:nvSpPr>
          <p:cNvPr id="5" name="TextBox 4"/>
          <p:cNvSpPr txBox="1"/>
          <p:nvPr/>
        </p:nvSpPr>
        <p:spPr>
          <a:xfrm>
            <a:off x="566928" y="731520"/>
            <a:ext cx="11057839" cy="731520"/>
          </a:xfrm>
          <a:prstGeom prst="rect">
            <a:avLst/>
          </a:prstGeom>
          <a:noFill/>
        </p:spPr>
        <p:txBody>
          <a:bodyPr wrap="square">
            <a:spAutoFit/>
          </a:bodyPr>
          <a:lstStyle/>
          <a:p>
            <a:pPr>
              <a:spcAft>
                <a:spcPts val="800"/>
              </a:spcAft>
              <a:defRPr sz="3000" b="1">
                <a:solidFill>
                  <a:srgbClr val="18181B"/>
                </a:solidFill>
                <a:latin typeface="Helvetica Neue"/>
              </a:defRPr>
            </a:pPr>
            <a:r>
              <a:t>What it looks like in operation</a:t>
            </a:r>
          </a:p>
        </p:txBody>
      </p:sp>
      <p:sp>
        <p:nvSpPr>
          <p:cNvPr id="6" name="TextBox 5"/>
          <p:cNvSpPr txBox="1"/>
          <p:nvPr/>
        </p:nvSpPr>
        <p:spPr>
          <a:xfrm>
            <a:off x="566928" y="1389888"/>
            <a:ext cx="11057839" cy="502920"/>
          </a:xfrm>
          <a:prstGeom prst="rect">
            <a:avLst/>
          </a:prstGeom>
          <a:noFill/>
        </p:spPr>
        <p:txBody>
          <a:bodyPr wrap="square">
            <a:spAutoFit/>
          </a:bodyPr>
          <a:lstStyle/>
          <a:p>
            <a:pPr>
              <a:spcAft>
                <a:spcPts val="800"/>
              </a:spcAft>
              <a:defRPr sz="1600" b="0">
                <a:solidFill>
                  <a:srgbClr val="71717A"/>
                </a:solidFill>
                <a:latin typeface="Helvetica Neue"/>
              </a:defRPr>
            </a:pPr>
            <a:r>
              <a:t>Measured over 61 pages and 5,872 checkboxes. The full page is deliverables/dashboard.html, one file, no server.</a:t>
            </a:r>
          </a:p>
        </p:txBody>
      </p:sp>
      <p:sp>
        <p:nvSpPr>
          <p:cNvPr id="7" name="Rounded Rectangle 6"/>
          <p:cNvSpPr/>
          <p:nvPr/>
        </p:nvSpPr>
        <p:spPr>
          <a:xfrm>
            <a:off x="566928" y="2103120"/>
            <a:ext cx="1721053" cy="987552"/>
          </a:xfrm>
          <a:prstGeom prst="roundRect">
            <a:avLst>
              <a:gd name="adj" fmla="val 8000"/>
            </a:avLst>
          </a:prstGeom>
          <a:solidFill>
            <a:srgbClr val="FFFFFF"/>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2103120"/>
            <a:ext cx="64008" cy="9875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48840"/>
            <a:ext cx="1538173" cy="274320"/>
          </a:xfrm>
          <a:prstGeom prst="rect">
            <a:avLst/>
          </a:prstGeom>
          <a:noFill/>
        </p:spPr>
        <p:txBody>
          <a:bodyPr wrap="square">
            <a:spAutoFit/>
          </a:bodyPr>
          <a:lstStyle/>
          <a:p>
            <a:pPr>
              <a:spcAft>
                <a:spcPts val="800"/>
              </a:spcAft>
              <a:defRPr sz="1000" b="0">
                <a:solidFill>
                  <a:srgbClr val="71717A"/>
                </a:solidFill>
                <a:latin typeface="Helvetica Neue"/>
              </a:defRPr>
            </a:pPr>
            <a:r>
              <a:t>Pages</a:t>
            </a:r>
          </a:p>
        </p:txBody>
      </p:sp>
      <p:sp>
        <p:nvSpPr>
          <p:cNvPr id="10" name="TextBox 9"/>
          <p:cNvSpPr txBox="1"/>
          <p:nvPr/>
        </p:nvSpPr>
        <p:spPr>
          <a:xfrm>
            <a:off x="731520" y="2359152"/>
            <a:ext cx="1538173" cy="457200"/>
          </a:xfrm>
          <a:prstGeom prst="rect">
            <a:avLst/>
          </a:prstGeom>
          <a:noFill/>
        </p:spPr>
        <p:txBody>
          <a:bodyPr wrap="square">
            <a:spAutoFit/>
          </a:bodyPr>
          <a:lstStyle/>
          <a:p>
            <a:pPr>
              <a:spcAft>
                <a:spcPts val="800"/>
              </a:spcAft>
              <a:defRPr sz="2200" b="1">
                <a:solidFill>
                  <a:srgbClr val="18181B"/>
                </a:solidFill>
                <a:latin typeface="Helvetica Neue"/>
              </a:defRPr>
            </a:pPr>
            <a:r>
              <a:t>61</a:t>
            </a:r>
          </a:p>
        </p:txBody>
      </p:sp>
      <p:sp>
        <p:nvSpPr>
          <p:cNvPr id="11" name="TextBox 10"/>
          <p:cNvSpPr txBox="1"/>
          <p:nvPr/>
        </p:nvSpPr>
        <p:spPr>
          <a:xfrm>
            <a:off x="731520" y="2761488"/>
            <a:ext cx="1538173" cy="274320"/>
          </a:xfrm>
          <a:prstGeom prst="rect">
            <a:avLst/>
          </a:prstGeom>
          <a:noFill/>
        </p:spPr>
        <p:txBody>
          <a:bodyPr wrap="square">
            <a:spAutoFit/>
          </a:bodyPr>
          <a:lstStyle/>
          <a:p>
            <a:pPr>
              <a:spcAft>
                <a:spcPts val="800"/>
              </a:spcAft>
              <a:defRPr sz="900" b="0">
                <a:solidFill>
                  <a:srgbClr val="71717A"/>
                </a:solidFill>
                <a:latin typeface="Helvetica Neue"/>
              </a:defRPr>
            </a:pPr>
            <a:r>
              <a:t>52 damaged on purpose</a:t>
            </a:r>
          </a:p>
        </p:txBody>
      </p:sp>
      <p:sp>
        <p:nvSpPr>
          <p:cNvPr id="12" name="Rounded Rectangle 11"/>
          <p:cNvSpPr/>
          <p:nvPr/>
        </p:nvSpPr>
        <p:spPr>
          <a:xfrm>
            <a:off x="2434285" y="2103120"/>
            <a:ext cx="1721053" cy="987552"/>
          </a:xfrm>
          <a:prstGeom prst="roundRect">
            <a:avLst>
              <a:gd name="adj" fmla="val 8000"/>
            </a:avLst>
          </a:prstGeom>
          <a:solidFill>
            <a:srgbClr val="FFFFFF"/>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34285" y="2103120"/>
            <a:ext cx="64008" cy="9875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98877" y="2148840"/>
            <a:ext cx="1538173" cy="274320"/>
          </a:xfrm>
          <a:prstGeom prst="rect">
            <a:avLst/>
          </a:prstGeom>
          <a:noFill/>
        </p:spPr>
        <p:txBody>
          <a:bodyPr wrap="square">
            <a:spAutoFit/>
          </a:bodyPr>
          <a:lstStyle/>
          <a:p>
            <a:pPr>
              <a:spcAft>
                <a:spcPts val="800"/>
              </a:spcAft>
              <a:defRPr sz="1000" b="0">
                <a:solidFill>
                  <a:srgbClr val="71717A"/>
                </a:solidFill>
                <a:latin typeface="Helvetica Neue"/>
              </a:defRPr>
            </a:pPr>
            <a:r>
              <a:t>Checkboxes</a:t>
            </a:r>
          </a:p>
        </p:txBody>
      </p:sp>
      <p:sp>
        <p:nvSpPr>
          <p:cNvPr id="15" name="TextBox 14"/>
          <p:cNvSpPr txBox="1"/>
          <p:nvPr/>
        </p:nvSpPr>
        <p:spPr>
          <a:xfrm>
            <a:off x="2598877" y="2359152"/>
            <a:ext cx="1538173" cy="457200"/>
          </a:xfrm>
          <a:prstGeom prst="rect">
            <a:avLst/>
          </a:prstGeom>
          <a:noFill/>
        </p:spPr>
        <p:txBody>
          <a:bodyPr wrap="square">
            <a:spAutoFit/>
          </a:bodyPr>
          <a:lstStyle/>
          <a:p>
            <a:pPr>
              <a:spcAft>
                <a:spcPts val="800"/>
              </a:spcAft>
              <a:defRPr sz="2200" b="1">
                <a:solidFill>
                  <a:srgbClr val="18181B"/>
                </a:solidFill>
                <a:latin typeface="Helvetica Neue"/>
              </a:defRPr>
            </a:pPr>
            <a:r>
              <a:t>5,872</a:t>
            </a:r>
          </a:p>
        </p:txBody>
      </p:sp>
      <p:sp>
        <p:nvSpPr>
          <p:cNvPr id="16" name="TextBox 15"/>
          <p:cNvSpPr txBox="1"/>
          <p:nvPr/>
        </p:nvSpPr>
        <p:spPr>
          <a:xfrm>
            <a:off x="2598877" y="2761488"/>
            <a:ext cx="1538173" cy="274320"/>
          </a:xfrm>
          <a:prstGeom prst="rect">
            <a:avLst/>
          </a:prstGeom>
          <a:noFill/>
        </p:spPr>
        <p:txBody>
          <a:bodyPr wrap="square">
            <a:spAutoFit/>
          </a:bodyPr>
          <a:lstStyle/>
          <a:p>
            <a:pPr>
              <a:spcAft>
                <a:spcPts val="800"/>
              </a:spcAft>
              <a:defRPr sz="900" b="0">
                <a:solidFill>
                  <a:srgbClr val="71717A"/>
                </a:solidFill>
                <a:latin typeface="Helvetica Neue"/>
              </a:defRPr>
            </a:pPr>
            <a:r>
              <a:t>1,868 read as marked</a:t>
            </a:r>
          </a:p>
        </p:txBody>
      </p:sp>
      <p:sp>
        <p:nvSpPr>
          <p:cNvPr id="17" name="Rounded Rectangle 16"/>
          <p:cNvSpPr/>
          <p:nvPr/>
        </p:nvSpPr>
        <p:spPr>
          <a:xfrm>
            <a:off x="4301642" y="2103120"/>
            <a:ext cx="1721053" cy="987552"/>
          </a:xfrm>
          <a:prstGeom prst="roundRect">
            <a:avLst>
              <a:gd name="adj" fmla="val 8000"/>
            </a:avLst>
          </a:prstGeom>
          <a:solidFill>
            <a:srgbClr val="FFFFFF"/>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01642" y="2103120"/>
            <a:ext cx="64008" cy="9875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66234" y="2148840"/>
            <a:ext cx="1538173" cy="274320"/>
          </a:xfrm>
          <a:prstGeom prst="rect">
            <a:avLst/>
          </a:prstGeom>
          <a:noFill/>
        </p:spPr>
        <p:txBody>
          <a:bodyPr wrap="square">
            <a:spAutoFit/>
          </a:bodyPr>
          <a:lstStyle/>
          <a:p>
            <a:pPr>
              <a:spcAft>
                <a:spcPts val="800"/>
              </a:spcAft>
              <a:defRPr sz="1000" b="0">
                <a:solidFill>
                  <a:srgbClr val="71717A"/>
                </a:solidFill>
                <a:latin typeface="Helvetica Neue"/>
              </a:defRPr>
            </a:pPr>
            <a:r>
              <a:t>Boxes found</a:t>
            </a:r>
          </a:p>
        </p:txBody>
      </p:sp>
      <p:sp>
        <p:nvSpPr>
          <p:cNvPr id="20" name="TextBox 19"/>
          <p:cNvSpPr txBox="1"/>
          <p:nvPr/>
        </p:nvSpPr>
        <p:spPr>
          <a:xfrm>
            <a:off x="4466234" y="2359152"/>
            <a:ext cx="1538173" cy="457200"/>
          </a:xfrm>
          <a:prstGeom prst="rect">
            <a:avLst/>
          </a:prstGeom>
          <a:noFill/>
        </p:spPr>
        <p:txBody>
          <a:bodyPr wrap="square">
            <a:spAutoFit/>
          </a:bodyPr>
          <a:lstStyle/>
          <a:p>
            <a:pPr>
              <a:spcAft>
                <a:spcPts val="800"/>
              </a:spcAft>
              <a:defRPr sz="2200" b="1">
                <a:solidFill>
                  <a:srgbClr val="18181B"/>
                </a:solidFill>
                <a:latin typeface="Helvetica Neue"/>
              </a:defRPr>
            </a:pPr>
            <a:r>
              <a:t>286 of 287</a:t>
            </a:r>
          </a:p>
        </p:txBody>
      </p:sp>
      <p:sp>
        <p:nvSpPr>
          <p:cNvPr id="21" name="TextBox 20"/>
          <p:cNvSpPr txBox="1"/>
          <p:nvPr/>
        </p:nvSpPr>
        <p:spPr>
          <a:xfrm>
            <a:off x="4466234" y="2761488"/>
            <a:ext cx="1538173" cy="274320"/>
          </a:xfrm>
          <a:prstGeom prst="rect">
            <a:avLst/>
          </a:prstGeom>
          <a:noFill/>
        </p:spPr>
        <p:txBody>
          <a:bodyPr wrap="square">
            <a:spAutoFit/>
          </a:bodyPr>
          <a:lstStyle/>
          <a:p>
            <a:pPr>
              <a:spcAft>
                <a:spcPts val="800"/>
              </a:spcAft>
              <a:defRPr sz="900" b="0">
                <a:solidFill>
                  <a:srgbClr val="71717A"/>
                </a:solidFill>
                <a:latin typeface="Helvetica Neue"/>
              </a:defRPr>
            </a:pPr>
            <a:r>
              <a:t>on the pages from the brief</a:t>
            </a:r>
          </a:p>
        </p:txBody>
      </p:sp>
      <p:sp>
        <p:nvSpPr>
          <p:cNvPr id="22" name="Rounded Rectangle 21"/>
          <p:cNvSpPr/>
          <p:nvPr/>
        </p:nvSpPr>
        <p:spPr>
          <a:xfrm>
            <a:off x="6168999" y="2103120"/>
            <a:ext cx="1721053" cy="987552"/>
          </a:xfrm>
          <a:prstGeom prst="roundRect">
            <a:avLst>
              <a:gd name="adj" fmla="val 8000"/>
            </a:avLst>
          </a:prstGeom>
          <a:solidFill>
            <a:srgbClr val="FFFFFF"/>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68999" y="2103120"/>
            <a:ext cx="64008" cy="9875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33591" y="2148840"/>
            <a:ext cx="1538173" cy="274320"/>
          </a:xfrm>
          <a:prstGeom prst="rect">
            <a:avLst/>
          </a:prstGeom>
          <a:noFill/>
        </p:spPr>
        <p:txBody>
          <a:bodyPr wrap="square">
            <a:spAutoFit/>
          </a:bodyPr>
          <a:lstStyle/>
          <a:p>
            <a:pPr>
              <a:spcAft>
                <a:spcPts val="800"/>
              </a:spcAft>
              <a:defRPr sz="1000" b="0">
                <a:solidFill>
                  <a:srgbClr val="71717A"/>
                </a:solidFill>
                <a:latin typeface="Helvetica Neue"/>
              </a:defRPr>
            </a:pPr>
            <a:r>
              <a:t>Sent to a person</a:t>
            </a:r>
          </a:p>
        </p:txBody>
      </p:sp>
      <p:sp>
        <p:nvSpPr>
          <p:cNvPr id="25" name="TextBox 24"/>
          <p:cNvSpPr txBox="1"/>
          <p:nvPr/>
        </p:nvSpPr>
        <p:spPr>
          <a:xfrm>
            <a:off x="6333591" y="2359152"/>
            <a:ext cx="1538173" cy="457200"/>
          </a:xfrm>
          <a:prstGeom prst="rect">
            <a:avLst/>
          </a:prstGeom>
          <a:noFill/>
        </p:spPr>
        <p:txBody>
          <a:bodyPr wrap="square">
            <a:spAutoFit/>
          </a:bodyPr>
          <a:lstStyle/>
          <a:p>
            <a:pPr>
              <a:spcAft>
                <a:spcPts val="800"/>
              </a:spcAft>
              <a:defRPr sz="2200" b="1">
                <a:solidFill>
                  <a:srgbClr val="18181B"/>
                </a:solidFill>
                <a:latin typeface="Helvetica Neue"/>
              </a:defRPr>
            </a:pPr>
            <a:r>
              <a:t>2.4%</a:t>
            </a:r>
          </a:p>
        </p:txBody>
      </p:sp>
      <p:sp>
        <p:nvSpPr>
          <p:cNvPr id="26" name="TextBox 25"/>
          <p:cNvSpPr txBox="1"/>
          <p:nvPr/>
        </p:nvSpPr>
        <p:spPr>
          <a:xfrm>
            <a:off x="6333591" y="2761488"/>
            <a:ext cx="1538173" cy="274320"/>
          </a:xfrm>
          <a:prstGeom prst="rect">
            <a:avLst/>
          </a:prstGeom>
          <a:noFill/>
        </p:spPr>
        <p:txBody>
          <a:bodyPr wrap="square">
            <a:spAutoFit/>
          </a:bodyPr>
          <a:lstStyle/>
          <a:p>
            <a:pPr>
              <a:spcAft>
                <a:spcPts val="800"/>
              </a:spcAft>
              <a:defRPr sz="900" b="0">
                <a:solidFill>
                  <a:srgbClr val="71717A"/>
                </a:solidFill>
                <a:latin typeface="Helvetica Neue"/>
              </a:defRPr>
            </a:pPr>
            <a:r>
              <a:t>138 boxes, each with a reason</a:t>
            </a:r>
          </a:p>
        </p:txBody>
      </p:sp>
      <p:sp>
        <p:nvSpPr>
          <p:cNvPr id="27" name="Rounded Rectangle 26"/>
          <p:cNvSpPr/>
          <p:nvPr/>
        </p:nvSpPr>
        <p:spPr>
          <a:xfrm>
            <a:off x="8036356" y="2103120"/>
            <a:ext cx="1721053" cy="987552"/>
          </a:xfrm>
          <a:prstGeom prst="roundRect">
            <a:avLst>
              <a:gd name="adj" fmla="val 8000"/>
            </a:avLst>
          </a:prstGeom>
          <a:solidFill>
            <a:srgbClr val="FFFFFF"/>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36356" y="2103120"/>
            <a:ext cx="64008" cy="9875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00948" y="2148840"/>
            <a:ext cx="1538173" cy="274320"/>
          </a:xfrm>
          <a:prstGeom prst="rect">
            <a:avLst/>
          </a:prstGeom>
          <a:noFill/>
        </p:spPr>
        <p:txBody>
          <a:bodyPr wrap="square">
            <a:spAutoFit/>
          </a:bodyPr>
          <a:lstStyle/>
          <a:p>
            <a:pPr>
              <a:spcAft>
                <a:spcPts val="800"/>
              </a:spcAft>
              <a:defRPr sz="1000" b="0">
                <a:solidFill>
                  <a:srgbClr val="71717A"/>
                </a:solidFill>
                <a:latin typeface="Helvetica Neue"/>
              </a:defRPr>
            </a:pPr>
            <a:r>
              <a:t>Per page</a:t>
            </a:r>
          </a:p>
        </p:txBody>
      </p:sp>
      <p:sp>
        <p:nvSpPr>
          <p:cNvPr id="30" name="TextBox 29"/>
          <p:cNvSpPr txBox="1"/>
          <p:nvPr/>
        </p:nvSpPr>
        <p:spPr>
          <a:xfrm>
            <a:off x="8200948" y="2359152"/>
            <a:ext cx="1538173" cy="457200"/>
          </a:xfrm>
          <a:prstGeom prst="rect">
            <a:avLst/>
          </a:prstGeom>
          <a:noFill/>
        </p:spPr>
        <p:txBody>
          <a:bodyPr wrap="square">
            <a:spAutoFit/>
          </a:bodyPr>
          <a:lstStyle/>
          <a:p>
            <a:pPr>
              <a:spcAft>
                <a:spcPts val="800"/>
              </a:spcAft>
              <a:defRPr sz="2200" b="1">
                <a:solidFill>
                  <a:srgbClr val="18181B"/>
                </a:solidFill>
                <a:latin typeface="Helvetica Neue"/>
              </a:defRPr>
            </a:pPr>
            <a:r>
              <a:t>284 ms</a:t>
            </a:r>
          </a:p>
        </p:txBody>
      </p:sp>
      <p:sp>
        <p:nvSpPr>
          <p:cNvPr id="31" name="TextBox 30"/>
          <p:cNvSpPr txBox="1"/>
          <p:nvPr/>
        </p:nvSpPr>
        <p:spPr>
          <a:xfrm>
            <a:off x="8200948" y="2761488"/>
            <a:ext cx="1538173" cy="274320"/>
          </a:xfrm>
          <a:prstGeom prst="rect">
            <a:avLst/>
          </a:prstGeom>
          <a:noFill/>
        </p:spPr>
        <p:txBody>
          <a:bodyPr wrap="square">
            <a:spAutoFit/>
          </a:bodyPr>
          <a:lstStyle/>
          <a:p>
            <a:pPr>
              <a:spcAft>
                <a:spcPts val="800"/>
              </a:spcAft>
              <a:defRPr sz="900" b="0">
                <a:solidFill>
                  <a:srgbClr val="71717A"/>
                </a:solidFill>
                <a:latin typeface="Helvetica Neue"/>
              </a:defRPr>
            </a:pPr>
            <a:r>
              <a:t>no model in the path</a:t>
            </a:r>
          </a:p>
        </p:txBody>
      </p:sp>
      <p:sp>
        <p:nvSpPr>
          <p:cNvPr id="32" name="Rounded Rectangle 31"/>
          <p:cNvSpPr/>
          <p:nvPr/>
        </p:nvSpPr>
        <p:spPr>
          <a:xfrm>
            <a:off x="9903713" y="2103120"/>
            <a:ext cx="1721053" cy="987552"/>
          </a:xfrm>
          <a:prstGeom prst="roundRect">
            <a:avLst>
              <a:gd name="adj" fmla="val 8000"/>
            </a:avLst>
          </a:prstGeom>
          <a:solidFill>
            <a:srgbClr val="FFFFFF"/>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03713" y="2103120"/>
            <a:ext cx="64008" cy="9875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68305" y="2148840"/>
            <a:ext cx="1538173" cy="274320"/>
          </a:xfrm>
          <a:prstGeom prst="rect">
            <a:avLst/>
          </a:prstGeom>
          <a:noFill/>
        </p:spPr>
        <p:txBody>
          <a:bodyPr wrap="square">
            <a:spAutoFit/>
          </a:bodyPr>
          <a:lstStyle/>
          <a:p>
            <a:pPr>
              <a:spcAft>
                <a:spcPts val="800"/>
              </a:spcAft>
              <a:defRPr sz="1000" b="0">
                <a:solidFill>
                  <a:srgbClr val="71717A"/>
                </a:solidFill>
                <a:latin typeface="Helvetica Neue"/>
              </a:defRPr>
            </a:pPr>
            <a:r>
              <a:t>Agrees with a person</a:t>
            </a:r>
          </a:p>
        </p:txBody>
      </p:sp>
      <p:sp>
        <p:nvSpPr>
          <p:cNvPr id="35" name="TextBox 34"/>
          <p:cNvSpPr txBox="1"/>
          <p:nvPr/>
        </p:nvSpPr>
        <p:spPr>
          <a:xfrm>
            <a:off x="10068305" y="2359152"/>
            <a:ext cx="1538173" cy="457200"/>
          </a:xfrm>
          <a:prstGeom prst="rect">
            <a:avLst/>
          </a:prstGeom>
          <a:noFill/>
        </p:spPr>
        <p:txBody>
          <a:bodyPr wrap="square">
            <a:spAutoFit/>
          </a:bodyPr>
          <a:lstStyle/>
          <a:p>
            <a:pPr>
              <a:spcAft>
                <a:spcPts val="800"/>
              </a:spcAft>
              <a:defRPr sz="2200" b="1">
                <a:solidFill>
                  <a:srgbClr val="18181B"/>
                </a:solidFill>
                <a:latin typeface="Helvetica Neue"/>
              </a:defRPr>
            </a:pPr>
            <a:r>
              <a:t>0.92</a:t>
            </a:r>
          </a:p>
        </p:txBody>
      </p:sp>
      <p:sp>
        <p:nvSpPr>
          <p:cNvPr id="36" name="TextBox 35"/>
          <p:cNvSpPr txBox="1"/>
          <p:nvPr/>
        </p:nvSpPr>
        <p:spPr>
          <a:xfrm>
            <a:off x="10068305" y="2761488"/>
            <a:ext cx="1538173" cy="274320"/>
          </a:xfrm>
          <a:prstGeom prst="rect">
            <a:avLst/>
          </a:prstGeom>
          <a:noFill/>
        </p:spPr>
        <p:txBody>
          <a:bodyPr wrap="square">
            <a:spAutoFit/>
          </a:bodyPr>
          <a:lstStyle/>
          <a:p>
            <a:pPr>
              <a:spcAft>
                <a:spcPts val="800"/>
              </a:spcAft>
              <a:defRPr sz="900" b="0">
                <a:solidFill>
                  <a:srgbClr val="71717A"/>
                </a:solidFill>
                <a:latin typeface="Helvetica Neue"/>
              </a:defRPr>
            </a:pPr>
            <a:r>
              <a:t>36 of 39 rulings</a:t>
            </a:r>
          </a:p>
        </p:txBody>
      </p:sp>
      <p:sp>
        <p:nvSpPr>
          <p:cNvPr id="37" name="Rounded Rectangle 36"/>
          <p:cNvSpPr/>
          <p:nvPr/>
        </p:nvSpPr>
        <p:spPr>
          <a:xfrm>
            <a:off x="566928" y="3291840"/>
            <a:ext cx="5428335" cy="3246120"/>
          </a:xfrm>
          <a:prstGeom prst="roundRect">
            <a:avLst>
              <a:gd name="adj" fmla="val 8000"/>
            </a:avLst>
          </a:prstGeom>
          <a:solidFill>
            <a:srgbClr val="FFFFFF"/>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3383280"/>
            <a:ext cx="5062575" cy="320040"/>
          </a:xfrm>
          <a:prstGeom prst="rect">
            <a:avLst/>
          </a:prstGeom>
          <a:noFill/>
        </p:spPr>
        <p:txBody>
          <a:bodyPr wrap="square">
            <a:spAutoFit/>
          </a:bodyPr>
          <a:lstStyle/>
          <a:p>
            <a:pPr>
              <a:spcAft>
                <a:spcPts val="800"/>
              </a:spcAft>
              <a:defRPr sz="1400" b="1">
                <a:solidFill>
                  <a:srgbClr val="18181B"/>
                </a:solidFill>
                <a:latin typeface="Helvetica Neue"/>
              </a:defRPr>
            </a:pPr>
            <a:r>
              <a:t>Why boxes went to a person</a:t>
            </a:r>
          </a:p>
        </p:txBody>
      </p:sp>
      <p:sp>
        <p:nvSpPr>
          <p:cNvPr id="39" name="TextBox 38"/>
          <p:cNvSpPr txBox="1"/>
          <p:nvPr/>
        </p:nvSpPr>
        <p:spPr>
          <a:xfrm>
            <a:off x="768096" y="3675888"/>
            <a:ext cx="5062575" cy="320040"/>
          </a:xfrm>
          <a:prstGeom prst="rect">
            <a:avLst/>
          </a:prstGeom>
          <a:noFill/>
        </p:spPr>
        <p:txBody>
          <a:bodyPr wrap="square">
            <a:spAutoFit/>
          </a:bodyPr>
          <a:lstStyle/>
          <a:p>
            <a:pPr>
              <a:spcAft>
                <a:spcPts val="800"/>
              </a:spcAft>
              <a:defRPr sz="1000" b="0">
                <a:solidFill>
                  <a:srgbClr val="71717A"/>
                </a:solidFill>
                <a:latin typeface="Helvetica Neue"/>
              </a:defRPr>
            </a:pPr>
            <a:r>
              <a:t>Every reason on the 138 flagged boxes, 146 in all; a box can carry more than one.</a:t>
            </a:r>
          </a:p>
        </p:txBody>
      </p:sp>
      <p:sp>
        <p:nvSpPr>
          <p:cNvPr id="40" name="TextBox 39"/>
          <p:cNvSpPr txBox="1"/>
          <p:nvPr/>
        </p:nvSpPr>
        <p:spPr>
          <a:xfrm>
            <a:off x="768096" y="4114800"/>
            <a:ext cx="2148840" cy="274320"/>
          </a:xfrm>
          <a:prstGeom prst="rect">
            <a:avLst/>
          </a:prstGeom>
          <a:noFill/>
        </p:spPr>
        <p:txBody>
          <a:bodyPr wrap="square">
            <a:spAutoFit/>
          </a:bodyPr>
          <a:lstStyle/>
          <a:p>
            <a:pPr>
              <a:spcAft>
                <a:spcPts val="800"/>
              </a:spcAft>
              <a:defRPr sz="1100" b="1">
                <a:solidFill>
                  <a:srgbClr val="18181B"/>
                </a:solidFill>
                <a:latin typeface="Helvetica Neue"/>
              </a:defRPr>
            </a:pPr>
            <a:r>
              <a:t>stray stroke</a:t>
            </a:r>
          </a:p>
        </p:txBody>
      </p:sp>
      <p:sp>
        <p:nvSpPr>
          <p:cNvPr id="41" name="TextBox 40"/>
          <p:cNvSpPr txBox="1"/>
          <p:nvPr/>
        </p:nvSpPr>
        <p:spPr>
          <a:xfrm>
            <a:off x="768096" y="4334256"/>
            <a:ext cx="2148840" cy="274320"/>
          </a:xfrm>
          <a:prstGeom prst="rect">
            <a:avLst/>
          </a:prstGeom>
          <a:noFill/>
        </p:spPr>
        <p:txBody>
          <a:bodyPr wrap="square">
            <a:spAutoFit/>
          </a:bodyPr>
          <a:lstStyle/>
          <a:p>
            <a:pPr>
              <a:spcAft>
                <a:spcPts val="800"/>
              </a:spcAft>
              <a:defRPr sz="900" b="0">
                <a:solidFill>
                  <a:srgbClr val="71717A"/>
                </a:solidFill>
                <a:latin typeface="Helvetica Neue"/>
              </a:defRPr>
            </a:pPr>
            <a:r>
              <a:t>a pen line crosses the box</a:t>
            </a:r>
          </a:p>
        </p:txBody>
      </p:sp>
      <p:sp>
        <p:nvSpPr>
          <p:cNvPr id="42" name="Rounded Rectangle 41"/>
          <p:cNvSpPr/>
          <p:nvPr/>
        </p:nvSpPr>
        <p:spPr>
          <a:xfrm>
            <a:off x="2916936" y="4206240"/>
            <a:ext cx="2227935" cy="274320"/>
          </a:xfrm>
          <a:prstGeom prst="roundRect">
            <a:avLst>
              <a:gd name="adj" fmla="val 8000"/>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218023" y="4169664"/>
            <a:ext cx="731520" cy="320040"/>
          </a:xfrm>
          <a:prstGeom prst="rect">
            <a:avLst/>
          </a:prstGeom>
          <a:noFill/>
        </p:spPr>
        <p:txBody>
          <a:bodyPr wrap="square">
            <a:spAutoFit/>
          </a:bodyPr>
          <a:lstStyle/>
          <a:p>
            <a:pPr>
              <a:spcAft>
                <a:spcPts val="800"/>
              </a:spcAft>
              <a:defRPr sz="1300" b="1">
                <a:solidFill>
                  <a:srgbClr val="18181B"/>
                </a:solidFill>
                <a:latin typeface="Helvetica Neue"/>
              </a:defRPr>
            </a:pPr>
            <a:r>
              <a:t>64</a:t>
            </a:r>
          </a:p>
        </p:txBody>
      </p:sp>
      <p:sp>
        <p:nvSpPr>
          <p:cNvPr id="44" name="TextBox 43"/>
          <p:cNvSpPr txBox="1"/>
          <p:nvPr/>
        </p:nvSpPr>
        <p:spPr>
          <a:xfrm>
            <a:off x="768096" y="4572000"/>
            <a:ext cx="2148840" cy="274320"/>
          </a:xfrm>
          <a:prstGeom prst="rect">
            <a:avLst/>
          </a:prstGeom>
          <a:noFill/>
        </p:spPr>
        <p:txBody>
          <a:bodyPr wrap="square">
            <a:spAutoFit/>
          </a:bodyPr>
          <a:lstStyle/>
          <a:p>
            <a:pPr>
              <a:spcAft>
                <a:spcPts val="800"/>
              </a:spcAft>
              <a:defRPr sz="1100" b="1">
                <a:solidFill>
                  <a:srgbClr val="18181B"/>
                </a:solidFill>
                <a:latin typeface="Helvetica Neue"/>
              </a:defRPr>
            </a:pPr>
            <a:r>
              <a:t>missing in detect</a:t>
            </a:r>
          </a:p>
        </p:txBody>
      </p:sp>
      <p:sp>
        <p:nvSpPr>
          <p:cNvPr id="45" name="TextBox 44"/>
          <p:cNvSpPr txBox="1"/>
          <p:nvPr/>
        </p:nvSpPr>
        <p:spPr>
          <a:xfrm>
            <a:off x="768096" y="4791456"/>
            <a:ext cx="2148840" cy="274320"/>
          </a:xfrm>
          <a:prstGeom prst="rect">
            <a:avLst/>
          </a:prstGeom>
          <a:noFill/>
        </p:spPr>
        <p:txBody>
          <a:bodyPr wrap="square">
            <a:spAutoFit/>
          </a:bodyPr>
          <a:lstStyle/>
          <a:p>
            <a:pPr>
              <a:spcAft>
                <a:spcPts val="800"/>
              </a:spcAft>
              <a:defRPr sz="900" b="0">
                <a:solidFill>
                  <a:srgbClr val="71717A"/>
                </a:solidFill>
                <a:latin typeface="Helvetica Neue"/>
              </a:defRPr>
            </a:pPr>
            <a:r>
              <a:t>the form expects a box here</a:t>
            </a:r>
          </a:p>
        </p:txBody>
      </p:sp>
      <p:sp>
        <p:nvSpPr>
          <p:cNvPr id="46" name="Rounded Rectangle 45"/>
          <p:cNvSpPr/>
          <p:nvPr/>
        </p:nvSpPr>
        <p:spPr>
          <a:xfrm>
            <a:off x="2916936" y="4663440"/>
            <a:ext cx="1949443" cy="274320"/>
          </a:xfrm>
          <a:prstGeom prst="roundRect">
            <a:avLst>
              <a:gd name="adj" fmla="val 8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9531" y="4626864"/>
            <a:ext cx="731520" cy="320040"/>
          </a:xfrm>
          <a:prstGeom prst="rect">
            <a:avLst/>
          </a:prstGeom>
          <a:noFill/>
        </p:spPr>
        <p:txBody>
          <a:bodyPr wrap="square">
            <a:spAutoFit/>
          </a:bodyPr>
          <a:lstStyle/>
          <a:p>
            <a:pPr>
              <a:spcAft>
                <a:spcPts val="800"/>
              </a:spcAft>
              <a:defRPr sz="1300" b="1">
                <a:solidFill>
                  <a:srgbClr val="18181B"/>
                </a:solidFill>
                <a:latin typeface="Helvetica Neue"/>
              </a:defRPr>
            </a:pPr>
            <a:r>
              <a:t>56</a:t>
            </a:r>
          </a:p>
        </p:txBody>
      </p:sp>
      <p:sp>
        <p:nvSpPr>
          <p:cNvPr id="48" name="TextBox 47"/>
          <p:cNvSpPr txBox="1"/>
          <p:nvPr/>
        </p:nvSpPr>
        <p:spPr>
          <a:xfrm>
            <a:off x="768096" y="5029200"/>
            <a:ext cx="2148840" cy="274320"/>
          </a:xfrm>
          <a:prstGeom prst="rect">
            <a:avLst/>
          </a:prstGeom>
          <a:noFill/>
        </p:spPr>
        <p:txBody>
          <a:bodyPr wrap="square">
            <a:spAutoFit/>
          </a:bodyPr>
          <a:lstStyle/>
          <a:p>
            <a:pPr>
              <a:spcAft>
                <a:spcPts val="800"/>
              </a:spcAft>
              <a:defRPr sz="1100" b="1">
                <a:solidFill>
                  <a:srgbClr val="18181B"/>
                </a:solidFill>
                <a:latin typeface="Helvetica Neue"/>
              </a:defRPr>
            </a:pPr>
            <a:r>
              <a:t>ink ambiguous</a:t>
            </a:r>
          </a:p>
        </p:txBody>
      </p:sp>
      <p:sp>
        <p:nvSpPr>
          <p:cNvPr id="49" name="TextBox 48"/>
          <p:cNvSpPr txBox="1"/>
          <p:nvPr/>
        </p:nvSpPr>
        <p:spPr>
          <a:xfrm>
            <a:off x="768096" y="5248656"/>
            <a:ext cx="2148840" cy="274320"/>
          </a:xfrm>
          <a:prstGeom prst="rect">
            <a:avLst/>
          </a:prstGeom>
          <a:noFill/>
        </p:spPr>
        <p:txBody>
          <a:bodyPr wrap="square">
            <a:spAutoFit/>
          </a:bodyPr>
          <a:lstStyle/>
          <a:p>
            <a:pPr>
              <a:spcAft>
                <a:spcPts val="800"/>
              </a:spcAft>
              <a:defRPr sz="900" b="0">
                <a:solidFill>
                  <a:srgbClr val="71717A"/>
                </a:solidFill>
                <a:latin typeface="Helvetica Neue"/>
              </a:defRPr>
            </a:pPr>
            <a:r>
              <a:t>too little ink to call</a:t>
            </a:r>
          </a:p>
        </p:txBody>
      </p:sp>
      <p:sp>
        <p:nvSpPr>
          <p:cNvPr id="50" name="Rounded Rectangle 49"/>
          <p:cNvSpPr/>
          <p:nvPr/>
        </p:nvSpPr>
        <p:spPr>
          <a:xfrm>
            <a:off x="2916936" y="5120640"/>
            <a:ext cx="556983" cy="274320"/>
          </a:xfrm>
          <a:prstGeom prst="roundRect">
            <a:avLst>
              <a:gd name="adj" fmla="val 8000"/>
            </a:avLst>
          </a:prstGeom>
          <a:solidFill>
            <a:srgbClr val="8A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547071" y="5084064"/>
            <a:ext cx="731520" cy="320040"/>
          </a:xfrm>
          <a:prstGeom prst="rect">
            <a:avLst/>
          </a:prstGeom>
          <a:noFill/>
        </p:spPr>
        <p:txBody>
          <a:bodyPr wrap="square">
            <a:spAutoFit/>
          </a:bodyPr>
          <a:lstStyle/>
          <a:p>
            <a:pPr>
              <a:spcAft>
                <a:spcPts val="800"/>
              </a:spcAft>
              <a:defRPr sz="1300" b="1">
                <a:solidFill>
                  <a:srgbClr val="18181B"/>
                </a:solidFill>
                <a:latin typeface="Helvetica Neue"/>
              </a:defRPr>
            </a:pPr>
            <a:r>
              <a:t>16</a:t>
            </a:r>
          </a:p>
        </p:txBody>
      </p:sp>
      <p:sp>
        <p:nvSpPr>
          <p:cNvPr id="52" name="TextBox 51"/>
          <p:cNvSpPr txBox="1"/>
          <p:nvPr/>
        </p:nvSpPr>
        <p:spPr>
          <a:xfrm>
            <a:off x="768096" y="5486400"/>
            <a:ext cx="2148840" cy="274320"/>
          </a:xfrm>
          <a:prstGeom prst="rect">
            <a:avLst/>
          </a:prstGeom>
          <a:noFill/>
        </p:spPr>
        <p:txBody>
          <a:bodyPr wrap="square">
            <a:spAutoFit/>
          </a:bodyPr>
          <a:lstStyle/>
          <a:p>
            <a:pPr>
              <a:spcAft>
                <a:spcPts val="800"/>
              </a:spcAft>
              <a:defRPr sz="1100" b="1">
                <a:solidFill>
                  <a:srgbClr val="18181B"/>
                </a:solidFill>
                <a:latin typeface="Helvetica Neue"/>
              </a:defRPr>
            </a:pPr>
            <a:r>
              <a:t>extra box</a:t>
            </a:r>
          </a:p>
        </p:txBody>
      </p:sp>
      <p:sp>
        <p:nvSpPr>
          <p:cNvPr id="53" name="TextBox 52"/>
          <p:cNvSpPr txBox="1"/>
          <p:nvPr/>
        </p:nvSpPr>
        <p:spPr>
          <a:xfrm>
            <a:off x="768096" y="5705856"/>
            <a:ext cx="2148840" cy="274320"/>
          </a:xfrm>
          <a:prstGeom prst="rect">
            <a:avLst/>
          </a:prstGeom>
          <a:noFill/>
        </p:spPr>
        <p:txBody>
          <a:bodyPr wrap="square">
            <a:spAutoFit/>
          </a:bodyPr>
          <a:lstStyle/>
          <a:p>
            <a:pPr>
              <a:spcAft>
                <a:spcPts val="800"/>
              </a:spcAft>
              <a:defRPr sz="900" b="0">
                <a:solidFill>
                  <a:srgbClr val="71717A"/>
                </a:solidFill>
                <a:latin typeface="Helvetica Neue"/>
              </a:defRPr>
            </a:pPr>
            <a:r>
              <a:t>a box the blank form lacks</a:t>
            </a:r>
          </a:p>
        </p:txBody>
      </p:sp>
      <p:sp>
        <p:nvSpPr>
          <p:cNvPr id="54" name="Rounded Rectangle 53"/>
          <p:cNvSpPr/>
          <p:nvPr/>
        </p:nvSpPr>
        <p:spPr>
          <a:xfrm>
            <a:off x="2916936" y="5577840"/>
            <a:ext cx="313303" cy="274320"/>
          </a:xfrm>
          <a:prstGeom prst="roundRect">
            <a:avLst>
              <a:gd name="adj" fmla="val 8000"/>
            </a:avLst>
          </a:prstGeom>
          <a:solidFill>
            <a:srgbClr val="D46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303391" y="5541264"/>
            <a:ext cx="731520" cy="320040"/>
          </a:xfrm>
          <a:prstGeom prst="rect">
            <a:avLst/>
          </a:prstGeom>
          <a:noFill/>
        </p:spPr>
        <p:txBody>
          <a:bodyPr wrap="square">
            <a:spAutoFit/>
          </a:bodyPr>
          <a:lstStyle/>
          <a:p>
            <a:pPr>
              <a:spcAft>
                <a:spcPts val="800"/>
              </a:spcAft>
              <a:defRPr sz="1300" b="1">
                <a:solidFill>
                  <a:srgbClr val="18181B"/>
                </a:solidFill>
                <a:latin typeface="Helvetica Neue"/>
              </a:defRPr>
            </a:pPr>
            <a:r>
              <a:t>9</a:t>
            </a:r>
          </a:p>
        </p:txBody>
      </p:sp>
      <p:sp>
        <p:nvSpPr>
          <p:cNvPr id="56" name="TextBox 55"/>
          <p:cNvSpPr txBox="1"/>
          <p:nvPr/>
        </p:nvSpPr>
        <p:spPr>
          <a:xfrm>
            <a:off x="768096" y="5943600"/>
            <a:ext cx="2148840" cy="274320"/>
          </a:xfrm>
          <a:prstGeom prst="rect">
            <a:avLst/>
          </a:prstGeom>
          <a:noFill/>
        </p:spPr>
        <p:txBody>
          <a:bodyPr wrap="square">
            <a:spAutoFit/>
          </a:bodyPr>
          <a:lstStyle/>
          <a:p>
            <a:pPr>
              <a:spcAft>
                <a:spcPts val="800"/>
              </a:spcAft>
              <a:defRPr sz="1100" b="1">
                <a:solidFill>
                  <a:srgbClr val="18181B"/>
                </a:solidFill>
                <a:latin typeface="Helvetica Neue"/>
              </a:defRPr>
            </a:pPr>
            <a:r>
              <a:t>fragmented mark</a:t>
            </a:r>
          </a:p>
        </p:txBody>
      </p:sp>
      <p:sp>
        <p:nvSpPr>
          <p:cNvPr id="57" name="TextBox 56"/>
          <p:cNvSpPr txBox="1"/>
          <p:nvPr/>
        </p:nvSpPr>
        <p:spPr>
          <a:xfrm>
            <a:off x="768096" y="6163056"/>
            <a:ext cx="2148840" cy="274320"/>
          </a:xfrm>
          <a:prstGeom prst="rect">
            <a:avLst/>
          </a:prstGeom>
          <a:noFill/>
        </p:spPr>
        <p:txBody>
          <a:bodyPr wrap="square">
            <a:spAutoFit/>
          </a:bodyPr>
          <a:lstStyle/>
          <a:p>
            <a:pPr>
              <a:spcAft>
                <a:spcPts val="800"/>
              </a:spcAft>
              <a:defRPr sz="900" b="0">
                <a:solidFill>
                  <a:srgbClr val="71717A"/>
                </a:solidFill>
                <a:latin typeface="Helvetica Neue"/>
              </a:defRPr>
            </a:pPr>
            <a:r>
              <a:t>specks, not one stroke</a:t>
            </a:r>
          </a:p>
        </p:txBody>
      </p:sp>
      <p:sp>
        <p:nvSpPr>
          <p:cNvPr id="58" name="Rounded Rectangle 57"/>
          <p:cNvSpPr/>
          <p:nvPr/>
        </p:nvSpPr>
        <p:spPr>
          <a:xfrm>
            <a:off x="2916936" y="6035040"/>
            <a:ext cx="73152" cy="274320"/>
          </a:xfrm>
          <a:prstGeom prst="roundRect">
            <a:avLst>
              <a:gd name="adj" fmla="val 8000"/>
            </a:avLst>
          </a:prstGeom>
          <a:solidFill>
            <a:srgbClr val="3A9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063240" y="5998464"/>
            <a:ext cx="731520" cy="320040"/>
          </a:xfrm>
          <a:prstGeom prst="rect">
            <a:avLst/>
          </a:prstGeom>
          <a:noFill/>
        </p:spPr>
        <p:txBody>
          <a:bodyPr wrap="square">
            <a:spAutoFit/>
          </a:bodyPr>
          <a:lstStyle/>
          <a:p>
            <a:pPr>
              <a:spcAft>
                <a:spcPts val="800"/>
              </a:spcAft>
              <a:defRPr sz="1300" b="1">
                <a:solidFill>
                  <a:srgbClr val="18181B"/>
                </a:solidFill>
                <a:latin typeface="Helvetica Neue"/>
              </a:defRPr>
            </a:pPr>
            <a:r>
              <a:t>1</a:t>
            </a:r>
          </a:p>
        </p:txBody>
      </p:sp>
      <p:sp>
        <p:nvSpPr>
          <p:cNvPr id="60" name="Rounded Rectangle 59"/>
          <p:cNvSpPr/>
          <p:nvPr/>
        </p:nvSpPr>
        <p:spPr>
          <a:xfrm>
            <a:off x="6196431" y="3291840"/>
            <a:ext cx="5428335" cy="3246120"/>
          </a:xfrm>
          <a:prstGeom prst="roundRect">
            <a:avLst>
              <a:gd name="adj" fmla="val 8000"/>
            </a:avLst>
          </a:prstGeom>
          <a:solidFill>
            <a:srgbClr val="FFFFFF"/>
          </a:solidFill>
          <a:ln w="9525">
            <a:solidFill>
              <a:srgbClr val="E4E4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397599" y="3383280"/>
            <a:ext cx="5062575" cy="320040"/>
          </a:xfrm>
          <a:prstGeom prst="rect">
            <a:avLst/>
          </a:prstGeom>
          <a:noFill/>
        </p:spPr>
        <p:txBody>
          <a:bodyPr wrap="square">
            <a:spAutoFit/>
          </a:bodyPr>
          <a:lstStyle/>
          <a:p>
            <a:pPr>
              <a:spcAft>
                <a:spcPts val="800"/>
              </a:spcAft>
              <a:defRPr sz="1400" b="1">
                <a:solidFill>
                  <a:srgbClr val="18181B"/>
                </a:solidFill>
                <a:latin typeface="Helvetica Neue"/>
              </a:defRPr>
            </a:pPr>
            <a:r>
              <a:t>Where the trouble concentrates</a:t>
            </a:r>
          </a:p>
        </p:txBody>
      </p:sp>
      <p:sp>
        <p:nvSpPr>
          <p:cNvPr id="62" name="TextBox 61"/>
          <p:cNvSpPr txBox="1"/>
          <p:nvPr/>
        </p:nvSpPr>
        <p:spPr>
          <a:xfrm>
            <a:off x="6397599" y="3675888"/>
            <a:ext cx="5062575" cy="320040"/>
          </a:xfrm>
          <a:prstGeom prst="rect">
            <a:avLst/>
          </a:prstGeom>
          <a:noFill/>
        </p:spPr>
        <p:txBody>
          <a:bodyPr wrap="square">
            <a:spAutoFit/>
          </a:bodyPr>
          <a:lstStyle/>
          <a:p>
            <a:pPr>
              <a:spcAft>
                <a:spcPts val="800"/>
              </a:spcAft>
              <a:defRPr sz="1000" b="0">
                <a:solidFill>
                  <a:srgbClr val="71717A"/>
                </a:solidFill>
                <a:latin typeface="Helvetica Neue"/>
              </a:defRPr>
            </a:pPr>
            <a:r>
              <a:t>Share of boxes sent for review, by what was done to the page. The held-out real appraisals flagged 0.</a:t>
            </a:r>
          </a:p>
        </p:txBody>
      </p:sp>
      <p:sp>
        <p:nvSpPr>
          <p:cNvPr id="63" name="TextBox 62"/>
          <p:cNvSpPr txBox="1"/>
          <p:nvPr/>
        </p:nvSpPr>
        <p:spPr>
          <a:xfrm>
            <a:off x="6397599" y="4133088"/>
            <a:ext cx="1234440" cy="274320"/>
          </a:xfrm>
          <a:prstGeom prst="rect">
            <a:avLst/>
          </a:prstGeom>
          <a:noFill/>
        </p:spPr>
        <p:txBody>
          <a:bodyPr wrap="square">
            <a:spAutoFit/>
          </a:bodyPr>
          <a:lstStyle/>
          <a:p>
            <a:pPr>
              <a:spcAft>
                <a:spcPts val="800"/>
              </a:spcAft>
              <a:defRPr sz="1100" b="0">
                <a:solidFill>
                  <a:srgbClr val="18181B"/>
                </a:solidFill>
                <a:latin typeface="Helvetica Neue"/>
              </a:defRPr>
            </a:pPr>
            <a:r>
              <a:t>shading</a:t>
            </a:r>
          </a:p>
        </p:txBody>
      </p:sp>
      <p:sp>
        <p:nvSpPr>
          <p:cNvPr id="64" name="Rounded Rectangle 63"/>
          <p:cNvSpPr/>
          <p:nvPr/>
        </p:nvSpPr>
        <p:spPr>
          <a:xfrm>
            <a:off x="7632039" y="4178808"/>
            <a:ext cx="3050895" cy="219456"/>
          </a:xfrm>
          <a:prstGeom prst="roundRect">
            <a:avLst>
              <a:gd name="adj" fmla="val 8000"/>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756086" y="4114800"/>
            <a:ext cx="822960" cy="320040"/>
          </a:xfrm>
          <a:prstGeom prst="rect">
            <a:avLst/>
          </a:prstGeom>
          <a:noFill/>
        </p:spPr>
        <p:txBody>
          <a:bodyPr wrap="square">
            <a:spAutoFit/>
          </a:bodyPr>
          <a:lstStyle/>
          <a:p>
            <a:pPr>
              <a:spcAft>
                <a:spcPts val="800"/>
              </a:spcAft>
              <a:defRPr sz="1200" b="1">
                <a:solidFill>
                  <a:srgbClr val="18181B"/>
                </a:solidFill>
                <a:latin typeface="Helvetica Neue"/>
              </a:defRPr>
            </a:pPr>
            <a:r>
              <a:t>9.05%</a:t>
            </a:r>
          </a:p>
        </p:txBody>
      </p:sp>
      <p:sp>
        <p:nvSpPr>
          <p:cNvPr id="66" name="TextBox 65"/>
          <p:cNvSpPr txBox="1"/>
          <p:nvPr/>
        </p:nvSpPr>
        <p:spPr>
          <a:xfrm>
            <a:off x="6397599" y="4486046"/>
            <a:ext cx="1234440" cy="274320"/>
          </a:xfrm>
          <a:prstGeom prst="rect">
            <a:avLst/>
          </a:prstGeom>
          <a:noFill/>
        </p:spPr>
        <p:txBody>
          <a:bodyPr wrap="square">
            <a:spAutoFit/>
          </a:bodyPr>
          <a:lstStyle/>
          <a:p>
            <a:pPr>
              <a:spcAft>
                <a:spcPts val="800"/>
              </a:spcAft>
              <a:defRPr sz="1100" b="0">
                <a:solidFill>
                  <a:srgbClr val="18181B"/>
                </a:solidFill>
                <a:latin typeface="Helvetica Neue"/>
              </a:defRPr>
            </a:pPr>
            <a:r>
              <a:t>watermark</a:t>
            </a:r>
          </a:p>
        </p:txBody>
      </p:sp>
      <p:sp>
        <p:nvSpPr>
          <p:cNvPr id="67" name="Rounded Rectangle 66"/>
          <p:cNvSpPr/>
          <p:nvPr/>
        </p:nvSpPr>
        <p:spPr>
          <a:xfrm>
            <a:off x="7632039" y="4531766"/>
            <a:ext cx="1405389" cy="219456"/>
          </a:xfrm>
          <a:prstGeom prst="roundRect">
            <a:avLst>
              <a:gd name="adj" fmla="val 8000"/>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110580" y="4467758"/>
            <a:ext cx="822960" cy="320040"/>
          </a:xfrm>
          <a:prstGeom prst="rect">
            <a:avLst/>
          </a:prstGeom>
          <a:noFill/>
        </p:spPr>
        <p:txBody>
          <a:bodyPr wrap="square">
            <a:spAutoFit/>
          </a:bodyPr>
          <a:lstStyle/>
          <a:p>
            <a:pPr>
              <a:spcAft>
                <a:spcPts val="800"/>
              </a:spcAft>
              <a:defRPr sz="1200" b="1">
                <a:solidFill>
                  <a:srgbClr val="18181B"/>
                </a:solidFill>
                <a:latin typeface="Helvetica Neue"/>
              </a:defRPr>
            </a:pPr>
            <a:r>
              <a:t>4.17%</a:t>
            </a:r>
          </a:p>
        </p:txBody>
      </p:sp>
      <p:sp>
        <p:nvSpPr>
          <p:cNvPr id="69" name="TextBox 68"/>
          <p:cNvSpPr txBox="1"/>
          <p:nvPr/>
        </p:nvSpPr>
        <p:spPr>
          <a:xfrm>
            <a:off x="6397599" y="4839004"/>
            <a:ext cx="1234440" cy="274320"/>
          </a:xfrm>
          <a:prstGeom prst="rect">
            <a:avLst/>
          </a:prstGeom>
          <a:noFill/>
        </p:spPr>
        <p:txBody>
          <a:bodyPr wrap="square">
            <a:spAutoFit/>
          </a:bodyPr>
          <a:lstStyle/>
          <a:p>
            <a:pPr>
              <a:spcAft>
                <a:spcPts val="800"/>
              </a:spcAft>
              <a:defRPr sz="1100" b="0">
                <a:solidFill>
                  <a:srgbClr val="18181B"/>
                </a:solidFill>
                <a:latin typeface="Helvetica Neue"/>
              </a:defRPr>
            </a:pPr>
            <a:r>
              <a:t>pen</a:t>
            </a:r>
          </a:p>
        </p:txBody>
      </p:sp>
      <p:sp>
        <p:nvSpPr>
          <p:cNvPr id="70" name="Rounded Rectangle 69"/>
          <p:cNvSpPr/>
          <p:nvPr/>
        </p:nvSpPr>
        <p:spPr>
          <a:xfrm>
            <a:off x="7632039" y="4884724"/>
            <a:ext cx="1054041" cy="219456"/>
          </a:xfrm>
          <a:prstGeom prst="roundRect">
            <a:avLst>
              <a:gd name="adj" fmla="val 8000"/>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759232" y="4820716"/>
            <a:ext cx="822960" cy="320040"/>
          </a:xfrm>
          <a:prstGeom prst="rect">
            <a:avLst/>
          </a:prstGeom>
          <a:noFill/>
        </p:spPr>
        <p:txBody>
          <a:bodyPr wrap="square">
            <a:spAutoFit/>
          </a:bodyPr>
          <a:lstStyle/>
          <a:p>
            <a:pPr>
              <a:spcAft>
                <a:spcPts val="800"/>
              </a:spcAft>
              <a:defRPr sz="1200" b="1">
                <a:solidFill>
                  <a:srgbClr val="18181B"/>
                </a:solidFill>
                <a:latin typeface="Helvetica Neue"/>
              </a:defRPr>
            </a:pPr>
            <a:r>
              <a:t>3.12%</a:t>
            </a:r>
          </a:p>
        </p:txBody>
      </p:sp>
      <p:sp>
        <p:nvSpPr>
          <p:cNvPr id="72" name="TextBox 71"/>
          <p:cNvSpPr txBox="1"/>
          <p:nvPr/>
        </p:nvSpPr>
        <p:spPr>
          <a:xfrm>
            <a:off x="6397599" y="5191962"/>
            <a:ext cx="1234440" cy="274320"/>
          </a:xfrm>
          <a:prstGeom prst="rect">
            <a:avLst/>
          </a:prstGeom>
          <a:noFill/>
        </p:spPr>
        <p:txBody>
          <a:bodyPr wrap="square">
            <a:spAutoFit/>
          </a:bodyPr>
          <a:lstStyle/>
          <a:p>
            <a:pPr>
              <a:spcAft>
                <a:spcPts val="800"/>
              </a:spcAft>
              <a:defRPr sz="1100" b="0">
                <a:solidFill>
                  <a:srgbClr val="18181B"/>
                </a:solidFill>
                <a:latin typeface="Helvetica Neue"/>
              </a:defRPr>
            </a:pPr>
            <a:r>
              <a:t>scale</a:t>
            </a:r>
          </a:p>
        </p:txBody>
      </p:sp>
      <p:sp>
        <p:nvSpPr>
          <p:cNvPr id="73" name="Rounded Rectangle 72"/>
          <p:cNvSpPr/>
          <p:nvPr/>
        </p:nvSpPr>
        <p:spPr>
          <a:xfrm>
            <a:off x="7632039" y="5237682"/>
            <a:ext cx="981847" cy="219456"/>
          </a:xfrm>
          <a:prstGeom prst="roundRect">
            <a:avLst>
              <a:gd name="adj" fmla="val 8000"/>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687038" y="5173674"/>
            <a:ext cx="822960" cy="320040"/>
          </a:xfrm>
          <a:prstGeom prst="rect">
            <a:avLst/>
          </a:prstGeom>
          <a:noFill/>
        </p:spPr>
        <p:txBody>
          <a:bodyPr wrap="square">
            <a:spAutoFit/>
          </a:bodyPr>
          <a:lstStyle/>
          <a:p>
            <a:pPr>
              <a:spcAft>
                <a:spcPts val="800"/>
              </a:spcAft>
              <a:defRPr sz="1200" b="1">
                <a:solidFill>
                  <a:srgbClr val="18181B"/>
                </a:solidFill>
                <a:latin typeface="Helvetica Neue"/>
              </a:defRPr>
            </a:pPr>
            <a:r>
              <a:t>2.91%</a:t>
            </a:r>
          </a:p>
        </p:txBody>
      </p:sp>
      <p:sp>
        <p:nvSpPr>
          <p:cNvPr id="75" name="TextBox 74"/>
          <p:cNvSpPr txBox="1"/>
          <p:nvPr/>
        </p:nvSpPr>
        <p:spPr>
          <a:xfrm>
            <a:off x="6397599" y="5544920"/>
            <a:ext cx="1234440" cy="274320"/>
          </a:xfrm>
          <a:prstGeom prst="rect">
            <a:avLst/>
          </a:prstGeom>
          <a:noFill/>
        </p:spPr>
        <p:txBody>
          <a:bodyPr wrap="square">
            <a:spAutoFit/>
          </a:bodyPr>
          <a:lstStyle/>
          <a:p>
            <a:pPr>
              <a:spcAft>
                <a:spcPts val="800"/>
              </a:spcAft>
              <a:defRPr sz="1100" b="0">
                <a:solidFill>
                  <a:srgbClr val="18181B"/>
                </a:solidFill>
                <a:latin typeface="Helvetica Neue"/>
              </a:defRPr>
            </a:pPr>
            <a:r>
              <a:t>mixed</a:t>
            </a:r>
          </a:p>
        </p:txBody>
      </p:sp>
      <p:sp>
        <p:nvSpPr>
          <p:cNvPr id="76" name="Rounded Rectangle 75"/>
          <p:cNvSpPr/>
          <p:nvPr/>
        </p:nvSpPr>
        <p:spPr>
          <a:xfrm>
            <a:off x="7632039" y="5590640"/>
            <a:ext cx="918300" cy="219456"/>
          </a:xfrm>
          <a:prstGeom prst="roundRect">
            <a:avLst>
              <a:gd name="adj" fmla="val 8000"/>
            </a:avLst>
          </a:prstGeom>
          <a:solidFill>
            <a:srgbClr val="D9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623491" y="5526632"/>
            <a:ext cx="822960" cy="320040"/>
          </a:xfrm>
          <a:prstGeom prst="rect">
            <a:avLst/>
          </a:prstGeom>
          <a:noFill/>
        </p:spPr>
        <p:txBody>
          <a:bodyPr wrap="square">
            <a:spAutoFit/>
          </a:bodyPr>
          <a:lstStyle/>
          <a:p>
            <a:pPr>
              <a:spcAft>
                <a:spcPts val="800"/>
              </a:spcAft>
              <a:defRPr sz="1200" b="1">
                <a:solidFill>
                  <a:srgbClr val="18181B"/>
                </a:solidFill>
                <a:latin typeface="Helvetica Neue"/>
              </a:defRPr>
            </a:pPr>
            <a:r>
              <a:t>2.72%</a:t>
            </a:r>
          </a:p>
        </p:txBody>
      </p:sp>
      <p:sp>
        <p:nvSpPr>
          <p:cNvPr id="78" name="TextBox 77"/>
          <p:cNvSpPr txBox="1"/>
          <p:nvPr/>
        </p:nvSpPr>
        <p:spPr>
          <a:xfrm>
            <a:off x="6397599" y="5971032"/>
            <a:ext cx="5062575" cy="493776"/>
          </a:xfrm>
          <a:prstGeom prst="rect">
            <a:avLst/>
          </a:prstGeom>
          <a:noFill/>
        </p:spPr>
        <p:txBody>
          <a:bodyPr wrap="square">
            <a:spAutoFit/>
          </a:bodyPr>
          <a:lstStyle/>
          <a:p>
            <a:pPr>
              <a:spcAft>
                <a:spcPts val="800"/>
              </a:spcAft>
              <a:defRPr sz="1000" b="0">
                <a:solidFill>
                  <a:srgbClr val="71717A"/>
                </a:solidFill>
                <a:latin typeface="Helvetica Neue"/>
              </a:defRPr>
            </a:pPr>
            <a:r>
              <a:t>Hardest is shading at 9.05%, easiest 1.03% for rotation. If real scans start looking like the worst case, the queue is where it shows first.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75488"/>
          </a:xfrm>
          <a:prstGeom prst="rect">
            <a:avLst/>
          </a:prstGeom>
          <a:solidFill>
            <a:srgbClr val="3730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
            <a:ext cx="12191695" cy="28575"/>
          </a:xfrm>
          <a:prstGeom prst="rect">
            <a:avLst/>
          </a:prstGeom>
          <a:solidFill>
            <a:srgbClr val="586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00584"/>
            <a:ext cx="11057839" cy="329184"/>
          </a:xfrm>
          <a:prstGeom prst="rect">
            <a:avLst/>
          </a:prstGeom>
          <a:noFill/>
        </p:spPr>
        <p:txBody>
          <a:bodyPr wrap="square">
            <a:spAutoFit/>
          </a:bodyPr>
          <a:lstStyle/>
          <a:p>
            <a:pPr>
              <a:spcAft>
                <a:spcPts val="800"/>
              </a:spcAft>
              <a:defRPr sz="1100" b="0">
                <a:solidFill>
                  <a:srgbClr val="C7D2FE"/>
                </a:solidFill>
                <a:latin typeface="Helvetica Neue"/>
              </a:defRPr>
            </a:pPr>
            <a:r>
              <a:t>EVIDENCE</a:t>
            </a:r>
          </a:p>
        </p:txBody>
      </p:sp>
      <p:sp>
        <p:nvSpPr>
          <p:cNvPr id="5" name="TextBox 4"/>
          <p:cNvSpPr txBox="1"/>
          <p:nvPr/>
        </p:nvSpPr>
        <p:spPr>
          <a:xfrm>
            <a:off x="566928" y="731520"/>
            <a:ext cx="11057839" cy="731520"/>
          </a:xfrm>
          <a:prstGeom prst="rect">
            <a:avLst/>
          </a:prstGeom>
          <a:noFill/>
        </p:spPr>
        <p:txBody>
          <a:bodyPr wrap="square">
            <a:spAutoFit/>
          </a:bodyPr>
          <a:lstStyle/>
          <a:p>
            <a:pPr>
              <a:spcAft>
                <a:spcPts val="800"/>
              </a:spcAft>
              <a:defRPr sz="3000" b="1">
                <a:solidFill>
                  <a:srgbClr val="18181B"/>
                </a:solidFill>
                <a:latin typeface="Helvetica Neue"/>
              </a:defRPr>
            </a:pPr>
            <a:r>
              <a:t>Who is the apprentice?</a:t>
            </a:r>
          </a:p>
        </p:txBody>
      </p:sp>
      <p:sp>
        <p:nvSpPr>
          <p:cNvPr id="6" name="TextBox 5"/>
          <p:cNvSpPr txBox="1"/>
          <p:nvPr/>
        </p:nvSpPr>
        <p:spPr>
          <a:xfrm>
            <a:off x="566928" y="1389888"/>
            <a:ext cx="11057839" cy="502920"/>
          </a:xfrm>
          <a:prstGeom prst="rect">
            <a:avLst/>
          </a:prstGeom>
          <a:noFill/>
        </p:spPr>
        <p:txBody>
          <a:bodyPr wrap="square">
            <a:spAutoFit/>
          </a:bodyPr>
          <a:lstStyle/>
          <a:p>
            <a:pPr>
              <a:spcAft>
                <a:spcPts val="800"/>
              </a:spcAft>
              <a:defRPr sz="1600" b="0">
                <a:solidFill>
                  <a:srgbClr val="71717A"/>
                </a:solidFill>
                <a:latin typeface="Helvetica Neue"/>
              </a:defRPr>
            </a:pPr>
            <a:r>
              <a:t>A small model trained from scratch, raced against the rules on the brief's answer key, and left switched off.</a:t>
            </a:r>
          </a:p>
        </p:txBody>
      </p:sp>
      <p:graphicFrame>
        <p:nvGraphicFramePr>
          <p:cNvPr id="7" name="Table 6"/>
          <p:cNvGraphicFramePr>
            <a:graphicFrameLocks noGrp="1"/>
          </p:cNvGraphicFramePr>
          <p:nvPr/>
        </p:nvGraphicFramePr>
        <p:xfrm>
          <a:off x="566928" y="2103120"/>
          <a:ext cx="6400797" cy="1243584"/>
        </p:xfrm>
        <a:graphic>
          <a:graphicData uri="http://schemas.openxmlformats.org/drawingml/2006/table">
            <a:tbl>
              <a:tblPr firstRow="1" bandRow="1">
                <a:tableStyleId>{5C22544A-7EE6-4342-B048-85BDC9FD1C3A}</a:tableStyleId>
              </a:tblPr>
              <a:tblGrid>
                <a:gridCol w="2684206"/>
                <a:gridCol w="1445341"/>
                <a:gridCol w="1135625"/>
                <a:gridCol w="1135625"/>
              </a:tblGrid>
              <a:tr h="310896">
                <a:tc>
                  <a:txBody>
                    <a:bodyPr/>
                    <a:lstStyle/>
                    <a:p>
                      <a:pPr>
                        <a:defRPr sz="1300" b="1">
                          <a:solidFill>
                            <a:srgbClr val="FFFFFF"/>
                          </a:solidFill>
                          <a:latin typeface="Helvetica Neue"/>
                        </a:defRPr>
                      </a:pPr>
                      <a:r>
                        <a:t>how it ran</a:t>
                      </a:r>
                    </a:p>
                  </a:txBody>
                  <a:tcPr marL="64008" marR="64008" marT="27432" marB="27432">
                    <a:solidFill>
                      <a:srgbClr val="3730A3"/>
                    </a:solidFill>
                  </a:tcPr>
                </a:tc>
                <a:tc>
                  <a:txBody>
                    <a:bodyPr/>
                    <a:lstStyle/>
                    <a:p>
                      <a:pPr>
                        <a:defRPr sz="1300" b="1">
                          <a:solidFill>
                            <a:srgbClr val="FFFFFF"/>
                          </a:solidFill>
                          <a:latin typeface="Helvetica Neue"/>
                        </a:defRPr>
                      </a:pPr>
                      <a:r>
                        <a:t>sent to a person</a:t>
                      </a:r>
                    </a:p>
                  </a:txBody>
                  <a:tcPr marL="64008" marR="64008" marT="27432" marB="27432">
                    <a:solidFill>
                      <a:srgbClr val="3730A3"/>
                    </a:solidFill>
                  </a:tcPr>
                </a:tc>
                <a:tc>
                  <a:txBody>
                    <a:bodyPr/>
                    <a:lstStyle/>
                    <a:p>
                      <a:pPr>
                        <a:defRPr sz="1300" b="1">
                          <a:solidFill>
                            <a:srgbClr val="FFFFFF"/>
                          </a:solidFill>
                          <a:latin typeface="Helvetica Neue"/>
                        </a:defRPr>
                      </a:pPr>
                      <a:r>
                        <a:t>settled right</a:t>
                      </a:r>
                    </a:p>
                  </a:txBody>
                  <a:tcPr marL="64008" marR="64008" marT="27432" marB="27432">
                    <a:solidFill>
                      <a:srgbClr val="3730A3"/>
                    </a:solidFill>
                  </a:tcPr>
                </a:tc>
                <a:tc>
                  <a:txBody>
                    <a:bodyPr/>
                    <a:lstStyle/>
                    <a:p>
                      <a:pPr>
                        <a:defRPr sz="1300" b="1">
                          <a:solidFill>
                            <a:srgbClr val="FFFFFF"/>
                          </a:solidFill>
                          <a:latin typeface="Helvetica Neue"/>
                        </a:defRPr>
                      </a:pPr>
                      <a:r>
                        <a:t>settled wrong</a:t>
                      </a:r>
                    </a:p>
                  </a:txBody>
                  <a:tcPr marL="64008" marR="64008" marT="27432" marB="27432">
                    <a:solidFill>
                      <a:srgbClr val="3730A3"/>
                    </a:solidFill>
                  </a:tcPr>
                </a:tc>
              </a:tr>
              <a:tr h="310896">
                <a:tc>
                  <a:txBody>
                    <a:bodyPr/>
                    <a:lstStyle/>
                    <a:p>
                      <a:pPr>
                        <a:defRPr sz="1300" b="0">
                          <a:solidFill>
                            <a:srgbClr val="18181B"/>
                          </a:solidFill>
                          <a:latin typeface="Helvetica Neue"/>
                        </a:defRPr>
                      </a:pPr>
                      <a:r>
                        <a:t>rules only, which is what ships</a:t>
                      </a:r>
                    </a:p>
                  </a:txBody>
                  <a:tcPr marL="64008" marR="64008" marT="27432" marB="27432">
                    <a:solidFill>
                      <a:srgbClr val="FFFFFF"/>
                    </a:solidFill>
                  </a:tcPr>
                </a:tc>
                <a:tc>
                  <a:txBody>
                    <a:bodyPr/>
                    <a:lstStyle/>
                    <a:p>
                      <a:pPr>
                        <a:defRPr sz="1300" b="0">
                          <a:solidFill>
                            <a:srgbClr val="18181B"/>
                          </a:solidFill>
                          <a:latin typeface="Helvetica Neue"/>
                        </a:defRPr>
                      </a:pPr>
                      <a:r>
                        <a:t>2 of 286</a:t>
                      </a:r>
                    </a:p>
                  </a:txBody>
                  <a:tcPr marL="64008" marR="64008" marT="27432" marB="27432">
                    <a:solidFill>
                      <a:srgbClr val="FFFFFF"/>
                    </a:solidFill>
                  </a:tcPr>
                </a:tc>
                <a:tc>
                  <a:txBody>
                    <a:bodyPr/>
                    <a:lstStyle/>
                    <a:p>
                      <a:pPr>
                        <a:defRPr sz="1300" b="0">
                          <a:solidFill>
                            <a:srgbClr val="18181B"/>
                          </a:solidFill>
                          <a:latin typeface="Helvetica Neue"/>
                        </a:defRPr>
                      </a:pPr>
                      <a:r>
                        <a:t>284</a:t>
                      </a:r>
                    </a:p>
                  </a:txBody>
                  <a:tcPr marL="64008" marR="64008" marT="27432" marB="27432">
                    <a:solidFill>
                      <a:srgbClr val="FFFFFF"/>
                    </a:solidFill>
                  </a:tcPr>
                </a:tc>
                <a:tc>
                  <a:txBody>
                    <a:bodyPr/>
                    <a:lstStyle/>
                    <a:p>
                      <a:pPr>
                        <a:defRPr sz="1300" b="0">
                          <a:solidFill>
                            <a:srgbClr val="18181B"/>
                          </a:solidFill>
                          <a:latin typeface="Helvetica Neue"/>
                        </a:defRPr>
                      </a:pPr>
                      <a:r>
                        <a:t>0</a:t>
                      </a:r>
                    </a:p>
                  </a:txBody>
                  <a:tcPr marL="64008" marR="64008" marT="27432" marB="27432">
                    <a:solidFill>
                      <a:srgbClr val="FFFFFF"/>
                    </a:solidFill>
                  </a:tcPr>
                </a:tc>
              </a:tr>
              <a:tr h="310896">
                <a:tc>
                  <a:txBody>
                    <a:bodyPr/>
                    <a:lstStyle/>
                    <a:p>
                      <a:pPr>
                        <a:defRPr sz="1300" b="0">
                          <a:solidFill>
                            <a:srgbClr val="18181B"/>
                          </a:solidFill>
                          <a:latin typeface="Helvetica Neue"/>
                        </a:defRPr>
                      </a:pPr>
                      <a:r>
                        <a:t>the CNN alone, a test</a:t>
                      </a:r>
                    </a:p>
                  </a:txBody>
                  <a:tcPr marL="64008" marR="64008" marT="27432" marB="27432">
                    <a:solidFill>
                      <a:srgbClr val="F8FAFC"/>
                    </a:solidFill>
                  </a:tcPr>
                </a:tc>
                <a:tc>
                  <a:txBody>
                    <a:bodyPr/>
                    <a:lstStyle/>
                    <a:p>
                      <a:pPr>
                        <a:defRPr sz="1300" b="0">
                          <a:solidFill>
                            <a:srgbClr val="18181B"/>
                          </a:solidFill>
                          <a:latin typeface="Helvetica Neue"/>
                        </a:defRPr>
                      </a:pPr>
                      <a:r>
                        <a:t>56 of 286</a:t>
                      </a:r>
                    </a:p>
                  </a:txBody>
                  <a:tcPr marL="64008" marR="64008" marT="27432" marB="27432">
                    <a:solidFill>
                      <a:srgbClr val="F8FAFC"/>
                    </a:solidFill>
                  </a:tcPr>
                </a:tc>
                <a:tc>
                  <a:txBody>
                    <a:bodyPr/>
                    <a:lstStyle/>
                    <a:p>
                      <a:pPr>
                        <a:defRPr sz="1300" b="0">
                          <a:solidFill>
                            <a:srgbClr val="18181B"/>
                          </a:solidFill>
                          <a:latin typeface="Helvetica Neue"/>
                        </a:defRPr>
                      </a:pPr>
                      <a:r>
                        <a:t>229</a:t>
                      </a:r>
                    </a:p>
                  </a:txBody>
                  <a:tcPr marL="64008" marR="64008" marT="27432" marB="27432">
                    <a:solidFill>
                      <a:srgbClr val="F8FAFC"/>
                    </a:solidFill>
                  </a:tcPr>
                </a:tc>
                <a:tc>
                  <a:txBody>
                    <a:bodyPr/>
                    <a:lstStyle/>
                    <a:p>
                      <a:pPr>
                        <a:defRPr sz="1300" b="0">
                          <a:solidFill>
                            <a:srgbClr val="18181B"/>
                          </a:solidFill>
                          <a:latin typeface="Helvetica Neue"/>
                        </a:defRPr>
                      </a:pPr>
                      <a:r>
                        <a:t>1</a:t>
                      </a:r>
                    </a:p>
                  </a:txBody>
                  <a:tcPr marL="64008" marR="64008" marT="27432" marB="27432">
                    <a:solidFill>
                      <a:srgbClr val="F8FAFC"/>
                    </a:solidFill>
                  </a:tcPr>
                </a:tc>
              </a:tr>
              <a:tr h="310896">
                <a:tc>
                  <a:txBody>
                    <a:bodyPr/>
                    <a:lstStyle/>
                    <a:p>
                      <a:pPr>
                        <a:defRPr sz="1300" b="0">
                          <a:solidFill>
                            <a:srgbClr val="18181B"/>
                          </a:solidFill>
                          <a:latin typeface="Helvetica Neue"/>
                        </a:defRPr>
                      </a:pPr>
                      <a:r>
                        <a:t>both together, a test</a:t>
                      </a:r>
                    </a:p>
                  </a:txBody>
                  <a:tcPr marL="64008" marR="64008" marT="27432" marB="27432">
                    <a:solidFill>
                      <a:srgbClr val="FFFFFF"/>
                    </a:solidFill>
                  </a:tcPr>
                </a:tc>
                <a:tc>
                  <a:txBody>
                    <a:bodyPr/>
                    <a:lstStyle/>
                    <a:p>
                      <a:pPr>
                        <a:defRPr sz="1300" b="0">
                          <a:solidFill>
                            <a:srgbClr val="18181B"/>
                          </a:solidFill>
                          <a:latin typeface="Helvetica Neue"/>
                        </a:defRPr>
                      </a:pPr>
                      <a:r>
                        <a:t>19 of 286</a:t>
                      </a:r>
                    </a:p>
                  </a:txBody>
                  <a:tcPr marL="64008" marR="64008" marT="27432" marB="27432">
                    <a:solidFill>
                      <a:srgbClr val="FFFFFF"/>
                    </a:solidFill>
                  </a:tcPr>
                </a:tc>
                <a:tc>
                  <a:txBody>
                    <a:bodyPr/>
                    <a:lstStyle/>
                    <a:p>
                      <a:pPr>
                        <a:defRPr sz="1300" b="0">
                          <a:solidFill>
                            <a:srgbClr val="18181B"/>
                          </a:solidFill>
                          <a:latin typeface="Helvetica Neue"/>
                        </a:defRPr>
                      </a:pPr>
                      <a:r>
                        <a:t>267</a:t>
                      </a:r>
                    </a:p>
                  </a:txBody>
                  <a:tcPr marL="64008" marR="64008" marT="27432" marB="27432">
                    <a:solidFill>
                      <a:srgbClr val="FFFFFF"/>
                    </a:solidFill>
                  </a:tcPr>
                </a:tc>
                <a:tc>
                  <a:txBody>
                    <a:bodyPr/>
                    <a:lstStyle/>
                    <a:p>
                      <a:pPr>
                        <a:defRPr sz="1300" b="0">
                          <a:solidFill>
                            <a:srgbClr val="18181B"/>
                          </a:solidFill>
                          <a:latin typeface="Helvetica Neue"/>
                        </a:defRPr>
                      </a:pPr>
                      <a:r>
                        <a:t>0</a:t>
                      </a:r>
                    </a:p>
                  </a:txBody>
                  <a:tcPr marL="64008" marR="64008" marT="27432" marB="27432">
                    <a:solidFill>
                      <a:srgbClr val="FFFFFF"/>
                    </a:solidFill>
                  </a:tcPr>
                </a:tc>
              </a:tr>
            </a:tbl>
          </a:graphicData>
        </a:graphic>
      </p:graphicFrame>
      <p:sp>
        <p:nvSpPr>
          <p:cNvPr id="8" name="TextBox 7"/>
          <p:cNvSpPr txBox="1"/>
          <p:nvPr/>
        </p:nvSpPr>
        <p:spPr>
          <a:xfrm>
            <a:off x="566928" y="3657600"/>
            <a:ext cx="6400800" cy="1280160"/>
          </a:xfrm>
          <a:prstGeom prst="rect">
            <a:avLst/>
          </a:prstGeom>
          <a:noFill/>
        </p:spPr>
        <p:txBody>
          <a:bodyPr wrap="square">
            <a:spAutoFit/>
          </a:bodyPr>
          <a:lstStyle/>
          <a:p>
            <a:pPr>
              <a:spcAft>
                <a:spcPts val="800"/>
              </a:spcAft>
              <a:defRPr sz="1600" b="1">
                <a:solidFill>
                  <a:srgbClr val="71717A"/>
                </a:solidFill>
                <a:latin typeface="Helvetica Neue"/>
              </a:defRPr>
            </a:pPr>
            <a:r>
              <a:t>Verdict: rules only.</a:t>
            </a:r>
          </a:p>
          <a:p>
            <a:pPr>
              <a:spcAft>
                <a:spcPts val="800"/>
              </a:spcAft>
              <a:defRPr sz="1600" b="0">
                <a:solidFill>
                  <a:srgbClr val="71717A"/>
                </a:solidFill>
                <a:latin typeface="Helvetica Neue"/>
              </a:defRPr>
            </a:pPr>
            <a:r>
              <a:t>All three are nearly errorless; they differ in how much they hand to people, 2 against 19 against 56. Most automation at the same accuracy wins.</a:t>
            </a:r>
          </a:p>
        </p:txBody>
      </p:sp>
      <p:sp>
        <p:nvSpPr>
          <p:cNvPr id="9" name="TextBox 8"/>
          <p:cNvSpPr txBox="1"/>
          <p:nvPr/>
        </p:nvSpPr>
        <p:spPr>
          <a:xfrm>
            <a:off x="7424928" y="2103120"/>
            <a:ext cx="4199839" cy="4206240"/>
          </a:xfrm>
          <a:prstGeom prst="rect">
            <a:avLst/>
          </a:prstGeom>
          <a:noFill/>
        </p:spPr>
        <p:txBody>
          <a:bodyPr wrap="square">
            <a:spAutoFit/>
          </a:bodyPr>
          <a:lstStyle/>
          <a:p>
            <a:pPr>
              <a:spcAft>
                <a:spcPts val="1000"/>
              </a:spcAft>
              <a:defRPr sz="1500" b="1">
                <a:solidFill>
                  <a:srgbClr val="18181B"/>
                </a:solidFill>
                <a:latin typeface="Helvetica Neue"/>
              </a:defRPr>
            </a:pPr>
            <a:r>
              <a:t>The rules won the match, so the CNN stays switched off.</a:t>
            </a:r>
          </a:p>
          <a:p>
            <a:pPr>
              <a:spcAft>
                <a:spcPts val="1000"/>
              </a:spcAft>
              <a:defRPr sz="1500" b="0">
                <a:solidFill>
                  <a:srgbClr val="18181B"/>
                </a:solidFill>
                <a:latin typeface="Helvetica Neue"/>
              </a:defRPr>
            </a:pPr>
            <a:r>
              <a:t>It caught nothing the rules missed, and misread both real never-seen test boxes.</a:t>
            </a:r>
          </a:p>
          <a:p>
            <a:pPr>
              <a:spcAft>
                <a:spcPts val="1000"/>
              </a:spcAft>
              <a:defRPr sz="1500" b="0">
                <a:solidFill>
                  <a:srgbClr val="18181B"/>
                </a:solidFill>
                <a:latin typeface="Helvetica Neue"/>
              </a:defRPr>
            </a:pPr>
            <a:r>
              <a:t>Switched on, it only adds work: 17 more boxes to people, zero errors caught.</a:t>
            </a:r>
          </a:p>
          <a:p>
            <a:pPr>
              <a:spcAft>
                <a:spcPts val="1000"/>
              </a:spcAft>
              <a:defRPr sz="1500" b="0">
                <a:solidFill>
                  <a:srgbClr val="18181B"/>
                </a:solidFill>
                <a:latin typeface="Helvetica Neue"/>
              </a:defRPr>
            </a:pPr>
            <a:r>
              <a:t>Legibility is the invariant. The rules have it built in; the CNN can only approach it by emitting logs, a confidence and a heat map per box, replayable forever.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75488"/>
          </a:xfrm>
          <a:prstGeom prst="rect">
            <a:avLst/>
          </a:prstGeom>
          <a:solidFill>
            <a:srgbClr val="3730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
            <a:ext cx="12191695" cy="28575"/>
          </a:xfrm>
          <a:prstGeom prst="rect">
            <a:avLst/>
          </a:prstGeom>
          <a:solidFill>
            <a:srgbClr val="586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00584"/>
            <a:ext cx="11057839" cy="329184"/>
          </a:xfrm>
          <a:prstGeom prst="rect">
            <a:avLst/>
          </a:prstGeom>
          <a:noFill/>
        </p:spPr>
        <p:txBody>
          <a:bodyPr wrap="square">
            <a:spAutoFit/>
          </a:bodyPr>
          <a:lstStyle/>
          <a:p>
            <a:pPr>
              <a:spcAft>
                <a:spcPts val="800"/>
              </a:spcAft>
              <a:defRPr sz="1100" b="0">
                <a:solidFill>
                  <a:srgbClr val="C7D2FE"/>
                </a:solidFill>
                <a:latin typeface="Helvetica Neue"/>
              </a:defRPr>
            </a:pPr>
            <a:r>
              <a:t>WHAT COMES NEXT</a:t>
            </a:r>
          </a:p>
        </p:txBody>
      </p:sp>
      <p:sp>
        <p:nvSpPr>
          <p:cNvPr id="5" name="TextBox 4"/>
          <p:cNvSpPr txBox="1"/>
          <p:nvPr/>
        </p:nvSpPr>
        <p:spPr>
          <a:xfrm>
            <a:off x="566928" y="731520"/>
            <a:ext cx="11057839" cy="731520"/>
          </a:xfrm>
          <a:prstGeom prst="rect">
            <a:avLst/>
          </a:prstGeom>
          <a:noFill/>
        </p:spPr>
        <p:txBody>
          <a:bodyPr wrap="square">
            <a:spAutoFit/>
          </a:bodyPr>
          <a:lstStyle/>
          <a:p>
            <a:pPr>
              <a:spcAft>
                <a:spcPts val="800"/>
              </a:spcAft>
              <a:defRPr sz="3000" b="1">
                <a:solidFill>
                  <a:srgbClr val="18181B"/>
                </a:solidFill>
                <a:latin typeface="Helvetica Neue"/>
              </a:defRPr>
            </a:pPr>
            <a:r>
              <a:t>What this becomes with real volume</a:t>
            </a:r>
          </a:p>
        </p:txBody>
      </p:sp>
      <p:sp>
        <p:nvSpPr>
          <p:cNvPr id="6" name="TextBox 5"/>
          <p:cNvSpPr txBox="1"/>
          <p:nvPr/>
        </p:nvSpPr>
        <p:spPr>
          <a:xfrm>
            <a:off x="566928" y="1874520"/>
            <a:ext cx="11057839" cy="4023360"/>
          </a:xfrm>
          <a:prstGeom prst="rect">
            <a:avLst/>
          </a:prstGeom>
          <a:noFill/>
        </p:spPr>
        <p:txBody>
          <a:bodyPr wrap="square">
            <a:spAutoFit/>
          </a:bodyPr>
          <a:lstStyle/>
          <a:p>
            <a:pPr>
              <a:spcAft>
                <a:spcPts val="800"/>
              </a:spcAft>
              <a:defRPr sz="1800" b="0">
                <a:solidFill>
                  <a:srgbClr val="18181B"/>
                </a:solidFill>
                <a:latin typeface="Helvetica Neue"/>
              </a:defRPr>
            </a:pPr>
            <a:r>
              <a:t>The reason codes are per box today. Joined to the form's official field names, the same counts say which questions on the form confuse the people filling it in.</a:t>
            </a:r>
          </a:p>
          <a:p>
            <a:pPr>
              <a:spcAft>
                <a:spcPts val="800"/>
              </a:spcAft>
              <a:defRPr sz="1800" b="0">
                <a:solidFill>
                  <a:srgbClr val="18181B"/>
                </a:solidFill>
                <a:latin typeface="Helvetica Neue"/>
              </a:defRPr>
            </a:pPr>
          </a:p>
          <a:p>
            <a:pPr>
              <a:spcAft>
                <a:spcPts val="800"/>
              </a:spcAft>
              <a:defRPr sz="1800" b="0">
                <a:solidFill>
                  <a:srgbClr val="18181B"/>
                </a:solidFill>
                <a:latin typeface="Helvetica Neue"/>
              </a:defRPr>
            </a:pPr>
            <a:r>
              <a:t>That is a finding the customer can act on by changing the form, not by reviewing more documents. It turns an extraction service into a feedback loop on their own product.</a:t>
            </a:r>
          </a:p>
          <a:p>
            <a:pPr>
              <a:spcAft>
                <a:spcPts val="800"/>
              </a:spcAft>
              <a:defRPr sz="1800" b="0">
                <a:solidFill>
                  <a:srgbClr val="18181B"/>
                </a:solidFill>
                <a:latin typeface="Helvetica Neue"/>
              </a:defRPr>
            </a:pPr>
          </a:p>
          <a:p>
            <a:pPr>
              <a:spcAft>
                <a:spcPts val="800"/>
              </a:spcAft>
              <a:defRPr sz="1800" b="0">
                <a:solidFill>
                  <a:srgbClr val="18181B"/>
                </a:solidFill>
                <a:latin typeface="Helvetica Neue"/>
              </a:defRPr>
            </a:pPr>
            <a:r>
              <a:t>Getting there needs the template registry to carry field names, which is item 2 on the roadmap and is not built here.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75488"/>
          </a:xfrm>
          <a:prstGeom prst="rect">
            <a:avLst/>
          </a:prstGeom>
          <a:solidFill>
            <a:srgbClr val="3730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
            <a:ext cx="12191695" cy="28575"/>
          </a:xfrm>
          <a:prstGeom prst="rect">
            <a:avLst/>
          </a:prstGeom>
          <a:solidFill>
            <a:srgbClr val="586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00584"/>
            <a:ext cx="11057839" cy="329184"/>
          </a:xfrm>
          <a:prstGeom prst="rect">
            <a:avLst/>
          </a:prstGeom>
          <a:noFill/>
        </p:spPr>
        <p:txBody>
          <a:bodyPr wrap="square">
            <a:spAutoFit/>
          </a:bodyPr>
          <a:lstStyle/>
          <a:p>
            <a:pPr>
              <a:spcAft>
                <a:spcPts val="800"/>
              </a:spcAft>
              <a:defRPr sz="1100" b="0">
                <a:solidFill>
                  <a:srgbClr val="C7D2FE"/>
                </a:solidFill>
                <a:latin typeface="Helvetica Neue"/>
              </a:defRPr>
            </a:pPr>
            <a:r>
              <a:t>WHAT COMES NEXT</a:t>
            </a:r>
          </a:p>
        </p:txBody>
      </p:sp>
      <p:sp>
        <p:nvSpPr>
          <p:cNvPr id="5" name="TextBox 4"/>
          <p:cNvSpPr txBox="1"/>
          <p:nvPr/>
        </p:nvSpPr>
        <p:spPr>
          <a:xfrm>
            <a:off x="566928" y="731520"/>
            <a:ext cx="11057839" cy="731520"/>
          </a:xfrm>
          <a:prstGeom prst="rect">
            <a:avLst/>
          </a:prstGeom>
          <a:noFill/>
        </p:spPr>
        <p:txBody>
          <a:bodyPr wrap="square">
            <a:spAutoFit/>
          </a:bodyPr>
          <a:lstStyle/>
          <a:p>
            <a:pPr>
              <a:spcAft>
                <a:spcPts val="800"/>
              </a:spcAft>
              <a:defRPr sz="3000" b="1">
                <a:solidFill>
                  <a:srgbClr val="18181B"/>
                </a:solidFill>
                <a:latin typeface="Helvetica Neue"/>
              </a:defRPr>
            </a:pPr>
            <a:r>
              <a:t>What it cannot do</a:t>
            </a:r>
          </a:p>
        </p:txBody>
      </p:sp>
      <p:sp>
        <p:nvSpPr>
          <p:cNvPr id="6" name="TextBox 5"/>
          <p:cNvSpPr txBox="1"/>
          <p:nvPr/>
        </p:nvSpPr>
        <p:spPr>
          <a:xfrm>
            <a:off x="566928" y="1389888"/>
            <a:ext cx="11057839" cy="502920"/>
          </a:xfrm>
          <a:prstGeom prst="rect">
            <a:avLst/>
          </a:prstGeom>
          <a:noFill/>
        </p:spPr>
        <p:txBody>
          <a:bodyPr wrap="square">
            <a:spAutoFit/>
          </a:bodyPr>
          <a:lstStyle/>
          <a:p>
            <a:pPr>
              <a:spcAft>
                <a:spcPts val="800"/>
              </a:spcAft>
              <a:defRPr sz="1600" b="0">
                <a:solidFill>
                  <a:srgbClr val="71717A"/>
                </a:solidFill>
                <a:latin typeface="Helvetica Neue"/>
              </a:defRPr>
            </a:pPr>
            <a:r>
              <a:t>Five of them, and the measurement behind each one is in docs/approach.md.</a:t>
            </a:r>
          </a:p>
        </p:txBody>
      </p:sp>
      <p:sp>
        <p:nvSpPr>
          <p:cNvPr id="7" name="TextBox 6"/>
          <p:cNvSpPr txBox="1"/>
          <p:nvPr/>
        </p:nvSpPr>
        <p:spPr>
          <a:xfrm>
            <a:off x="566928" y="2286000"/>
            <a:ext cx="11057839" cy="4206240"/>
          </a:xfrm>
          <a:prstGeom prst="rect">
            <a:avLst/>
          </a:prstGeom>
          <a:noFill/>
        </p:spPr>
        <p:txBody>
          <a:bodyPr wrap="square">
            <a:spAutoFit/>
          </a:bodyPr>
          <a:lstStyle/>
          <a:p>
            <a:pPr>
              <a:spcAft>
                <a:spcPts val="1200"/>
              </a:spcAft>
              <a:defRPr sz="1700" b="0">
                <a:solidFill>
                  <a:srgbClr val="18181B"/>
                </a:solidFill>
                <a:latin typeface="Helvetica Neue"/>
              </a:defRPr>
            </a:pPr>
            <a:r>
              <a:t>Four real pages is not a benchmark. The held-out five carry no box-by-box labels, so they were checked by eye rather than scored. Sixty-one pages in all, and 52 of them are ones I damaged myself.</a:t>
            </a:r>
          </a:p>
          <a:p>
            <a:pPr>
              <a:spcAft>
                <a:spcPts val="1200"/>
              </a:spcAft>
              <a:defRPr sz="1700" b="0">
                <a:solidFill>
                  <a:srgbClr val="18181B"/>
                </a:solidFill>
                <a:latin typeface="Helvetica Neue"/>
              </a:defRPr>
            </a:pPr>
            <a:r>
              <a:t>The page labels were seeded by the software before correction, and that shortcut hid an invented box until a second reader disagreed about a row. That story is in the writeup.</a:t>
            </a:r>
          </a:p>
          <a:p>
            <a:pPr>
              <a:spcAft>
                <a:spcPts val="1200"/>
              </a:spcAft>
              <a:defRPr sz="1700" b="0">
                <a:solidFill>
                  <a:srgbClr val="18181B"/>
                </a:solidFill>
                <a:latin typeface="Helvetica Neue"/>
              </a:defRPr>
            </a:pPr>
            <a:r>
              <a:t>Rejecting a candidate is the one place the system removes evidence rather than flagging it, and the rule is resolution-dependent: at half size the invented box survives.</a:t>
            </a:r>
          </a:p>
          <a:p>
            <a:pPr>
              <a:spcAft>
                <a:spcPts val="1200"/>
              </a:spcAft>
              <a:defRPr sz="1700" b="0">
                <a:solidFill>
                  <a:srgbClr val="18181B"/>
                </a:solidFill>
                <a:latin typeface="Helvetica Neue"/>
              </a:defRPr>
            </a:pPr>
            <a:r>
              <a:t>We raced the small trained model against the rules on the brief's answer key: it sent 56 boxes to a person where the rules sent 2, and caught nothing they missed. It ships switched off.</a:t>
            </a:r>
          </a:p>
          <a:p>
            <a:pPr>
              <a:spcAft>
                <a:spcPts val="1200"/>
              </a:spcAft>
              <a:defRPr sz="1700" b="0">
                <a:solidFill>
                  <a:srgbClr val="18181B"/>
                </a:solidFill>
                <a:latin typeface="Helvetica Neue"/>
              </a:defRPr>
            </a:pPr>
            <a:r>
              <a:t>One of the three form types has no publicly published blank, so that page runs on one reader and says so.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checkboxes off appraisal pages</dc:title>
  <dc:subject/>
  <dc:creator>James W. Niu</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